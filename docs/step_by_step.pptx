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6" r:id="rId3"/>
    <p:sldId id="257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01" r:id="rId26"/>
    <p:sldId id="302" r:id="rId27"/>
    <p:sldId id="303" r:id="rId28"/>
    <p:sldId id="28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2A50-F286-48EF-AE79-CF6F3C827C15}" type="datetimeFigureOut">
              <a:rPr lang="pt-BR" smtClean="0"/>
              <a:t>28/04/2020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B4F57-50DE-49E7-A29C-A40D669CBBB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Redes MLP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Backpropagation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61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714480" y="714356"/>
            <a:ext cx="100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07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-1,4</a:t>
            </a:r>
            <a:endParaRPr lang="pt-BR" baseline="-250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7" name="CaixaDeTexto 96"/>
          <p:cNvSpPr txBox="1"/>
          <p:nvPr/>
        </p:nvSpPr>
        <p:spPr>
          <a:xfrm>
            <a:off x="5284995" y="5715016"/>
            <a:ext cx="385900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W </a:t>
            </a:r>
            <a:r>
              <a:rPr lang="en-US" baseline="-25000" dirty="0" err="1"/>
              <a:t>g,f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o peso </a:t>
            </a:r>
            <a:r>
              <a:rPr lang="en-US" dirty="0" err="1"/>
              <a:t>da</a:t>
            </a:r>
            <a:r>
              <a:rPr lang="en-US" dirty="0"/>
              <a:t> </a:t>
            </a:r>
            <a:r>
              <a:rPr lang="en-US" dirty="0" err="1"/>
              <a:t>conexão</a:t>
            </a:r>
            <a:r>
              <a:rPr lang="en-US" dirty="0"/>
              <a:t> </a:t>
            </a:r>
          </a:p>
          <a:p>
            <a:r>
              <a:rPr lang="en-US" dirty="0"/>
              <a:t>entre o </a:t>
            </a:r>
            <a:r>
              <a:rPr lang="en-US" dirty="0" err="1"/>
              <a:t>neurônio</a:t>
            </a:r>
            <a:r>
              <a:rPr lang="en-US" dirty="0"/>
              <a:t> F </a:t>
            </a:r>
            <a:r>
              <a:rPr lang="en-US" dirty="0">
                <a:sym typeface="Wingdings" pitchFamily="2" charset="2"/>
              </a:rPr>
              <a:t> G, </a:t>
            </a:r>
            <a:r>
              <a:rPr lang="en-US" dirty="0" err="1">
                <a:sym typeface="Wingdings" pitchFamily="2" charset="2"/>
              </a:rPr>
              <a:t>nesse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sentido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endParaRPr lang="en-US" dirty="0">
              <a:sym typeface="Wingdings" pitchFamily="2" charset="2"/>
            </a:endParaRPr>
          </a:p>
        </p:txBody>
      </p:sp>
      <p:sp>
        <p:nvSpPr>
          <p:cNvPr id="98" name="CaixaDeTexto 97"/>
          <p:cNvSpPr txBox="1"/>
          <p:nvPr/>
        </p:nvSpPr>
        <p:spPr>
          <a:xfrm>
            <a:off x="7434281" y="0"/>
            <a:ext cx="170971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  <a:endParaRPr lang="pt-B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CaixaDeTexto 98"/>
          <p:cNvSpPr txBox="1"/>
          <p:nvPr/>
        </p:nvSpPr>
        <p:spPr>
          <a:xfrm>
            <a:off x="214282" y="428604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CaixaDeTexto 99"/>
          <p:cNvSpPr txBox="1"/>
          <p:nvPr/>
        </p:nvSpPr>
        <p:spPr>
          <a:xfrm>
            <a:off x="3571868" y="0"/>
            <a:ext cx="1827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 OCULTA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CaixaDeTexto 100"/>
          <p:cNvSpPr txBox="1"/>
          <p:nvPr/>
        </p:nvSpPr>
        <p:spPr>
          <a:xfrm>
            <a:off x="7215206" y="1285860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714480" y="714356"/>
            <a:ext cx="100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07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-1,4</a:t>
            </a:r>
            <a:endParaRPr lang="pt-BR" baseline="-250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53888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dirty="0" err="1"/>
              <a:t>Considere</a:t>
            </a:r>
            <a:r>
              <a:rPr lang="en-US" dirty="0"/>
              <a:t> as </a:t>
            </a:r>
            <a:r>
              <a:rPr lang="en-US" dirty="0" err="1"/>
              <a:t>Entradas</a:t>
            </a:r>
            <a:endParaRPr lang="en-US" dirty="0"/>
          </a:p>
          <a:p>
            <a:pPr algn="ctr"/>
            <a:r>
              <a:rPr lang="en-US" dirty="0"/>
              <a:t>A=0 e B=1</a:t>
            </a:r>
          </a:p>
          <a:p>
            <a:pPr algn="ctr"/>
            <a:r>
              <a:rPr lang="en-US" dirty="0" err="1"/>
              <a:t>Saída</a:t>
            </a:r>
            <a:r>
              <a:rPr lang="en-US" dirty="0"/>
              <a:t> </a:t>
            </a:r>
            <a:r>
              <a:rPr lang="en-US" dirty="0" err="1"/>
              <a:t>desejada</a:t>
            </a:r>
            <a:r>
              <a:rPr lang="en-US" dirty="0"/>
              <a:t> = 1</a:t>
            </a:r>
            <a:endParaRPr lang="pt-BR" dirty="0"/>
          </a:p>
        </p:txBody>
      </p:sp>
      <p:sp>
        <p:nvSpPr>
          <p:cNvPr id="39" name="Retângulo 38"/>
          <p:cNvSpPr/>
          <p:nvPr/>
        </p:nvSpPr>
        <p:spPr>
          <a:xfrm>
            <a:off x="5886999" y="5429264"/>
            <a:ext cx="325700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ym typeface="Wingdings" pitchFamily="2" charset="2"/>
              </a:rPr>
              <a:t>A </a:t>
            </a:r>
            <a:r>
              <a:rPr lang="en-US" dirty="0" err="1">
                <a:sym typeface="Wingdings" pitchFamily="2" charset="2"/>
              </a:rPr>
              <a:t>função</a:t>
            </a:r>
            <a:r>
              <a:rPr lang="en-US" dirty="0">
                <a:sym typeface="Wingdings" pitchFamily="2" charset="2"/>
              </a:rPr>
              <a:t> de </a:t>
            </a:r>
            <a:r>
              <a:rPr lang="en-US" dirty="0" err="1">
                <a:sym typeface="Wingdings" pitchFamily="2" charset="2"/>
              </a:rPr>
              <a:t>saída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i="1" dirty="0">
                <a:sym typeface="Wingdings" pitchFamily="2" charset="2"/>
              </a:rPr>
              <a:t>f(net) = net/2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ou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seja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i="1" dirty="0">
                <a:sym typeface="Wingdings" pitchFamily="2" charset="2"/>
              </a:rPr>
              <a:t>f(x) = x/2</a:t>
            </a:r>
            <a:endParaRPr lang="pt-BR" i="1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714480" y="714356"/>
            <a:ext cx="100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07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-1,4</a:t>
            </a:r>
            <a:endParaRPr lang="pt-BR" baseline="-250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5572132" y="4429132"/>
            <a:ext cx="3571868" cy="22878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Cálculo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b="1" i="1" dirty="0" err="1"/>
              <a:t>netC</a:t>
            </a:r>
            <a:r>
              <a:rPr lang="en-US" sz="1600" i="1" dirty="0"/>
              <a:t> = </a:t>
            </a:r>
            <a:r>
              <a:rPr lang="en-US" sz="1600" i="1" dirty="0" err="1">
                <a:solidFill>
                  <a:schemeClr val="accent1">
                    <a:lumMod val="75000"/>
                  </a:schemeClr>
                </a:solidFill>
              </a:rPr>
              <a:t>A.w</a:t>
            </a:r>
            <a:r>
              <a:rPr lang="en-US" sz="1600" i="1" baseline="-25000" dirty="0" err="1">
                <a:solidFill>
                  <a:schemeClr val="accent1">
                    <a:lumMod val="75000"/>
                  </a:schemeClr>
                </a:solidFill>
              </a:rPr>
              <a:t>c,a</a:t>
            </a:r>
            <a:r>
              <a:rPr lang="en-US" sz="1600" i="1" dirty="0"/>
              <a:t> + </a:t>
            </a:r>
            <a:r>
              <a:rPr lang="en-US" sz="1600" i="1" dirty="0" err="1">
                <a:solidFill>
                  <a:srgbClr val="C00000"/>
                </a:solidFill>
              </a:rPr>
              <a:t>B.w</a:t>
            </a:r>
            <a:r>
              <a:rPr lang="en-US" sz="1600" i="1" baseline="-25000" dirty="0" err="1">
                <a:solidFill>
                  <a:srgbClr val="C00000"/>
                </a:solidFill>
              </a:rPr>
              <a:t>c,b</a:t>
            </a:r>
            <a:endParaRPr lang="en-US" sz="1600" i="1" baseline="-25000" dirty="0">
              <a:solidFill>
                <a:srgbClr val="C00000"/>
              </a:solidFill>
            </a:endParaRPr>
          </a:p>
          <a:p>
            <a:pPr algn="ctr"/>
            <a:endParaRPr lang="en-US" sz="1600" i="1" baseline="-25000" dirty="0"/>
          </a:p>
          <a:p>
            <a:pPr algn="ctr"/>
            <a:r>
              <a:rPr lang="en-US" sz="1600" dirty="0" err="1"/>
              <a:t>Depois</a:t>
            </a:r>
            <a:r>
              <a:rPr lang="en-US" sz="1600" dirty="0"/>
              <a:t> </a:t>
            </a:r>
            <a:r>
              <a:rPr lang="en-US" sz="1600" dirty="0" err="1"/>
              <a:t>calculamos</a:t>
            </a:r>
            <a:r>
              <a:rPr lang="en-US" sz="1600" dirty="0"/>
              <a:t> a </a:t>
            </a:r>
            <a:r>
              <a:rPr lang="en-US" sz="1600" dirty="0" err="1"/>
              <a:t>saída</a:t>
            </a:r>
            <a:r>
              <a:rPr lang="en-US" sz="1600" dirty="0"/>
              <a:t> </a:t>
            </a:r>
            <a:r>
              <a:rPr lang="en-US" sz="1600" b="1" dirty="0" err="1"/>
              <a:t>iC</a:t>
            </a:r>
            <a:endParaRPr lang="en-US" sz="1600" b="1" dirty="0"/>
          </a:p>
          <a:p>
            <a:pPr algn="ctr"/>
            <a:r>
              <a:rPr lang="en-US" sz="1600" dirty="0" err="1"/>
              <a:t>Neste</a:t>
            </a:r>
            <a:r>
              <a:rPr lang="en-US" sz="1600" dirty="0"/>
              <a:t> </a:t>
            </a:r>
            <a:r>
              <a:rPr lang="en-US" sz="1600" dirty="0" err="1"/>
              <a:t>exemplo</a:t>
            </a:r>
            <a:r>
              <a:rPr lang="en-US" sz="1600" dirty="0"/>
              <a:t> </a:t>
            </a:r>
            <a:r>
              <a:rPr lang="en-US" sz="1600" dirty="0" err="1"/>
              <a:t>temos</a:t>
            </a:r>
            <a:r>
              <a:rPr lang="en-US" sz="1600" dirty="0"/>
              <a:t> f(net) = net/2, </a:t>
            </a:r>
            <a:r>
              <a:rPr lang="en-US" sz="1600" dirty="0" err="1"/>
              <a:t>pois</a:t>
            </a:r>
            <a:r>
              <a:rPr lang="en-US" sz="1600" dirty="0"/>
              <a:t> a </a:t>
            </a:r>
            <a:r>
              <a:rPr lang="en-US" sz="1600" dirty="0" err="1"/>
              <a:t>função</a:t>
            </a:r>
            <a:r>
              <a:rPr lang="en-US" sz="1600" dirty="0"/>
              <a:t> é</a:t>
            </a:r>
            <a:r>
              <a:rPr lang="en-US" sz="1600" i="1" dirty="0"/>
              <a:t> f(x)=x/2</a:t>
            </a:r>
            <a:endParaRPr lang="pt-BR" sz="1100" i="1" dirty="0"/>
          </a:p>
        </p:txBody>
      </p:sp>
      <p:sp>
        <p:nvSpPr>
          <p:cNvPr id="41" name="CaixaDeTexto 40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714480" y="714356"/>
            <a:ext cx="100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0713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-1,4</a:t>
            </a:r>
            <a:endParaRPr lang="pt-BR" baseline="-250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5786446" y="4429132"/>
            <a:ext cx="3357554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</a:t>
            </a:r>
          </a:p>
          <a:p>
            <a:pPr algn="ctr"/>
            <a:r>
              <a:rPr lang="en-US" sz="1600" dirty="0"/>
              <a:t>Se a </a:t>
            </a:r>
            <a:r>
              <a:rPr lang="en-US" sz="1600" dirty="0" err="1"/>
              <a:t>função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r>
              <a:rPr lang="en-US" sz="1600" dirty="0"/>
              <a:t> fosse f(x)=x</a:t>
            </a:r>
            <a:r>
              <a:rPr lang="en-US" sz="1600" baseline="30000" dirty="0"/>
              <a:t>2</a:t>
            </a:r>
            <a:r>
              <a:rPr lang="en-US" sz="1600" dirty="0"/>
              <a:t>, </a:t>
            </a:r>
            <a:r>
              <a:rPr lang="en-US" sz="1600" dirty="0" err="1"/>
              <a:t>então</a:t>
            </a:r>
            <a:r>
              <a:rPr lang="en-US" sz="1600" dirty="0"/>
              <a:t> </a:t>
            </a:r>
            <a:r>
              <a:rPr lang="en-US" sz="1600" dirty="0" err="1"/>
              <a:t>calcularíamos</a:t>
            </a:r>
            <a:endParaRPr lang="en-US" sz="1600" dirty="0"/>
          </a:p>
          <a:p>
            <a:pPr algn="ctr"/>
            <a:r>
              <a:rPr lang="en-US" sz="1600" i="1" dirty="0" err="1"/>
              <a:t>iC</a:t>
            </a:r>
            <a:r>
              <a:rPr lang="en-US" sz="1600" i="1" dirty="0"/>
              <a:t>= </a:t>
            </a:r>
            <a:r>
              <a:rPr lang="en-US" sz="1600" i="1" dirty="0" err="1"/>
              <a:t>netC</a:t>
            </a:r>
            <a:r>
              <a:rPr lang="en-US" sz="1600" i="1" dirty="0"/>
              <a:t> </a:t>
            </a:r>
            <a:r>
              <a:rPr lang="en-US" sz="1600" baseline="30000" dirty="0"/>
              <a:t>2</a:t>
            </a:r>
          </a:p>
          <a:p>
            <a:pPr algn="ctr"/>
            <a:endParaRPr lang="en-US" sz="1600" i="1" dirty="0"/>
          </a:p>
          <a:p>
            <a:pPr algn="ctr"/>
            <a:r>
              <a:rPr lang="en-US" sz="1600" i="1" dirty="0"/>
              <a:t>Se </a:t>
            </a:r>
            <a:r>
              <a:rPr lang="en-US" sz="1600" i="1" dirty="0" err="1"/>
              <a:t>estivéssemos</a:t>
            </a:r>
            <a:r>
              <a:rPr lang="en-US" sz="1600" i="1" dirty="0"/>
              <a:t> </a:t>
            </a:r>
            <a:r>
              <a:rPr lang="en-US" sz="1600" i="1" dirty="0" err="1"/>
              <a:t>usando</a:t>
            </a:r>
            <a:r>
              <a:rPr lang="en-US" sz="1600" i="1" dirty="0"/>
              <a:t> a </a:t>
            </a:r>
            <a:r>
              <a:rPr lang="en-US" sz="1600" i="1" dirty="0" err="1"/>
              <a:t>função</a:t>
            </a:r>
            <a:r>
              <a:rPr lang="en-US" sz="1600" i="1" dirty="0"/>
              <a:t> </a:t>
            </a:r>
            <a:r>
              <a:rPr lang="en-US" sz="1600" i="1" dirty="0" err="1"/>
              <a:t>logística</a:t>
            </a:r>
            <a:r>
              <a:rPr lang="en-US" sz="1600" i="1" dirty="0"/>
              <a:t> </a:t>
            </a:r>
            <a:r>
              <a:rPr lang="en-US" sz="1600" i="1" dirty="0" err="1"/>
              <a:t>então</a:t>
            </a:r>
            <a:r>
              <a:rPr lang="en-US" sz="1600" i="1" dirty="0"/>
              <a:t> </a:t>
            </a:r>
          </a:p>
          <a:p>
            <a:pPr algn="ctr"/>
            <a:endParaRPr lang="en-US" sz="1600" i="1" dirty="0"/>
          </a:p>
          <a:p>
            <a:pPr algn="ctr"/>
            <a:endParaRPr lang="en-US" sz="1600" i="1" dirty="0"/>
          </a:p>
        </p:txBody>
      </p:sp>
      <p:graphicFrame>
        <p:nvGraphicFramePr>
          <p:cNvPr id="41" name="Objeto 4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86512" y="6286520"/>
            <a:ext cx="2361423" cy="5000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/>
          <p:cNvSpPr/>
          <p:nvPr/>
        </p:nvSpPr>
        <p:spPr>
          <a:xfrm>
            <a:off x="3286116" y="0"/>
            <a:ext cx="2286016" cy="14287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857356" y="571480"/>
            <a:ext cx="1115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b="1" baseline="-25000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c,a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1,1</a:t>
            </a:r>
            <a:endParaRPr lang="pt-BR" sz="2000" b="1" baseline="-25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19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b="1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c,b</a:t>
            </a:r>
            <a:r>
              <a:rPr lang="en-US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-1,4</a:t>
            </a:r>
            <a:endParaRPr lang="pt-BR" sz="2000" b="1" baseline="-25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286512" y="4500570"/>
            <a:ext cx="2857488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</a:t>
            </a: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 err="1"/>
              <a:t>netC</a:t>
            </a:r>
            <a:r>
              <a:rPr lang="en-US" sz="1600" i="1" dirty="0"/>
              <a:t> = </a:t>
            </a:r>
            <a:r>
              <a:rPr lang="en-US" sz="1600" i="1" dirty="0" err="1">
                <a:solidFill>
                  <a:schemeClr val="tx2">
                    <a:lumMod val="75000"/>
                  </a:schemeClr>
                </a:solidFill>
              </a:rPr>
              <a:t>A.w</a:t>
            </a:r>
            <a:r>
              <a:rPr lang="en-US" sz="1600" i="1" baseline="-25000" dirty="0" err="1">
                <a:solidFill>
                  <a:schemeClr val="tx2">
                    <a:lumMod val="75000"/>
                  </a:schemeClr>
                </a:solidFill>
              </a:rPr>
              <a:t>c,a</a:t>
            </a:r>
            <a:r>
              <a:rPr lang="en-US" sz="1600" i="1" dirty="0"/>
              <a:t> + </a:t>
            </a:r>
            <a:r>
              <a:rPr lang="en-US" sz="1600" i="1" dirty="0" err="1">
                <a:solidFill>
                  <a:srgbClr val="C00000"/>
                </a:solidFill>
              </a:rPr>
              <a:t>B.w</a:t>
            </a:r>
            <a:r>
              <a:rPr lang="en-US" sz="1600" i="1" baseline="-25000" dirty="0" err="1">
                <a:solidFill>
                  <a:srgbClr val="C00000"/>
                </a:solidFill>
              </a:rPr>
              <a:t>c,b</a:t>
            </a:r>
            <a:endParaRPr lang="en-US" sz="1600" i="1" baseline="-25000" dirty="0">
              <a:solidFill>
                <a:srgbClr val="C00000"/>
              </a:solidFill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netC</a:t>
            </a:r>
            <a:r>
              <a:rPr lang="en-US" sz="1600" i="1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0.1,1</a:t>
            </a:r>
            <a:r>
              <a:rPr lang="en-US" sz="1600" i="1" dirty="0">
                <a:solidFill>
                  <a:schemeClr val="accent1"/>
                </a:solidFill>
              </a:rPr>
              <a:t> + </a:t>
            </a:r>
            <a:r>
              <a:rPr lang="en-US" sz="1600" i="1" dirty="0">
                <a:solidFill>
                  <a:srgbClr val="C00000"/>
                </a:solidFill>
              </a:rPr>
              <a:t>1.-1,4 </a:t>
            </a:r>
            <a:r>
              <a:rPr lang="en-US" sz="1600" i="1" dirty="0">
                <a:solidFill>
                  <a:schemeClr val="accent1"/>
                </a:solidFill>
              </a:rPr>
              <a:t>= 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</a:rPr>
              <a:t>-1,4</a:t>
            </a:r>
          </a:p>
          <a:p>
            <a:pPr algn="ctr"/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i="1" dirty="0" err="1">
                <a:solidFill>
                  <a:schemeClr val="accent6">
                    <a:lumMod val="50000"/>
                  </a:schemeClr>
                </a:solidFill>
              </a:rPr>
              <a:t>Saída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</a:rPr>
              <a:t> de C (</a:t>
            </a:r>
            <a:r>
              <a:rPr lang="en-US" sz="1600" i="1" dirty="0" err="1">
                <a:solidFill>
                  <a:schemeClr val="accent6">
                    <a:lumMod val="50000"/>
                  </a:schemeClr>
                </a:solidFill>
              </a:rPr>
              <a:t>iC</a:t>
            </a:r>
            <a:r>
              <a:rPr lang="en-US" sz="1600" i="1" dirty="0">
                <a:solidFill>
                  <a:schemeClr val="accent6">
                    <a:lumMod val="50000"/>
                  </a:schemeClr>
                </a:solidFill>
              </a:rPr>
              <a:t>)= -1,4/2 = </a:t>
            </a:r>
            <a:r>
              <a:rPr lang="en-US" sz="1600" b="1" i="1" dirty="0">
                <a:solidFill>
                  <a:schemeClr val="accent6">
                    <a:lumMod val="50000"/>
                  </a:schemeClr>
                </a:solidFill>
              </a:rPr>
              <a:t>-0,7</a:t>
            </a:r>
            <a:endParaRPr lang="pt-BR" sz="1100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3" name="Conector em curva 42"/>
          <p:cNvCxnSpPr>
            <a:stCxn id="36" idx="0"/>
            <a:endCxn id="69" idx="1"/>
          </p:cNvCxnSpPr>
          <p:nvPr/>
        </p:nvCxnSpPr>
        <p:spPr>
          <a:xfrm rot="5400000" flipH="1" flipV="1">
            <a:off x="934252" y="219880"/>
            <a:ext cx="386838" cy="145937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a 45"/>
          <p:cNvCxnSpPr>
            <a:stCxn id="37" idx="0"/>
            <a:endCxn id="89" idx="1"/>
          </p:cNvCxnSpPr>
          <p:nvPr/>
        </p:nvCxnSpPr>
        <p:spPr>
          <a:xfrm rot="5400000" flipH="1" flipV="1">
            <a:off x="414433" y="3628901"/>
            <a:ext cx="958342" cy="1070749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3857620" y="0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netC</a:t>
            </a:r>
            <a:r>
              <a:rPr lang="en-US" sz="1400" dirty="0"/>
              <a:t> = -1,4</a:t>
            </a:r>
            <a:endParaRPr lang="pt-BR" sz="14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4643438" y="357166"/>
            <a:ext cx="817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-0,7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/>
          <p:cNvSpPr/>
          <p:nvPr/>
        </p:nvSpPr>
        <p:spPr>
          <a:xfrm>
            <a:off x="3357554" y="1500174"/>
            <a:ext cx="2286016" cy="14287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857356" y="571480"/>
            <a:ext cx="10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13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b="1" baseline="-25000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d,a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3,6</a:t>
            </a:r>
            <a:endParaRPr lang="pt-BR" sz="2000" b="1" baseline="-250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169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Wc,b</a:t>
            </a:r>
            <a:r>
              <a:rPr lang="en-US" sz="1600" dirty="0"/>
              <a:t>  = -1,4</a:t>
            </a:r>
            <a:endParaRPr lang="pt-BR" sz="16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178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b="1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d,b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-4,1</a:t>
            </a:r>
            <a:endParaRPr lang="pt-BR" sz="2000" b="1" baseline="-25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1857356" y="4643446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baseline="-250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286512" y="4500570"/>
            <a:ext cx="2857488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</a:t>
            </a: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 err="1"/>
              <a:t>netD</a:t>
            </a:r>
            <a:r>
              <a:rPr lang="en-US" sz="1600" i="1" dirty="0"/>
              <a:t> = </a:t>
            </a:r>
            <a:r>
              <a:rPr lang="en-US" sz="1600" i="1" dirty="0" err="1">
                <a:solidFill>
                  <a:schemeClr val="accent1">
                    <a:lumMod val="75000"/>
                  </a:schemeClr>
                </a:solidFill>
              </a:rPr>
              <a:t>A.w</a:t>
            </a:r>
            <a:r>
              <a:rPr lang="en-US" sz="1600" i="1" baseline="-25000" dirty="0" err="1">
                <a:solidFill>
                  <a:schemeClr val="accent1">
                    <a:lumMod val="75000"/>
                  </a:schemeClr>
                </a:solidFill>
              </a:rPr>
              <a:t>d,a</a:t>
            </a:r>
            <a:r>
              <a:rPr lang="en-US" sz="1600" i="1" dirty="0"/>
              <a:t> + </a:t>
            </a:r>
            <a:r>
              <a:rPr lang="en-US" sz="1600" i="1" dirty="0" err="1">
                <a:solidFill>
                  <a:srgbClr val="C00000"/>
                </a:solidFill>
              </a:rPr>
              <a:t>B.w</a:t>
            </a:r>
            <a:r>
              <a:rPr lang="en-US" sz="1600" i="1" baseline="-25000" dirty="0" err="1">
                <a:solidFill>
                  <a:srgbClr val="C00000"/>
                </a:solidFill>
              </a:rPr>
              <a:t>d,b</a:t>
            </a:r>
            <a:endParaRPr lang="en-US" sz="1600" i="1" baseline="-25000" dirty="0">
              <a:solidFill>
                <a:srgbClr val="C00000"/>
              </a:solidFill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netD</a:t>
            </a:r>
            <a:r>
              <a:rPr lang="en-US" sz="1600" i="1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0.3,6</a:t>
            </a:r>
            <a:r>
              <a:rPr lang="en-US" sz="1600" i="1" dirty="0">
                <a:solidFill>
                  <a:schemeClr val="accent1"/>
                </a:solidFill>
              </a:rPr>
              <a:t> + </a:t>
            </a:r>
            <a:r>
              <a:rPr lang="en-US" sz="1600" i="1" dirty="0">
                <a:solidFill>
                  <a:srgbClr val="C00000"/>
                </a:solidFill>
              </a:rPr>
              <a:t>1.-4,1 </a:t>
            </a:r>
            <a:r>
              <a:rPr lang="en-US" sz="1600" i="1" dirty="0">
                <a:solidFill>
                  <a:schemeClr val="accent1"/>
                </a:solidFill>
              </a:rPr>
              <a:t>= 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</a:rPr>
              <a:t>-4,1</a:t>
            </a:r>
          </a:p>
          <a:p>
            <a:pPr algn="ctr"/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i="1" dirty="0" err="1">
                <a:solidFill>
                  <a:schemeClr val="accent3">
                    <a:lumMod val="50000"/>
                  </a:schemeClr>
                </a:solidFill>
              </a:rPr>
              <a:t>Saída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</a:rPr>
              <a:t> de D (</a:t>
            </a:r>
            <a:r>
              <a:rPr lang="en-US" sz="1600" i="1" dirty="0" err="1">
                <a:solidFill>
                  <a:schemeClr val="accent3">
                    <a:lumMod val="50000"/>
                  </a:schemeClr>
                </a:solidFill>
              </a:rPr>
              <a:t>iD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</a:rPr>
              <a:t>)= -4,1/2 = </a:t>
            </a:r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</a:rPr>
              <a:t>-2,05</a:t>
            </a:r>
            <a:endParaRPr lang="pt-BR" sz="11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43" name="Conector em curva 42"/>
          <p:cNvCxnSpPr>
            <a:stCxn id="36" idx="0"/>
            <a:endCxn id="70" idx="1"/>
          </p:cNvCxnSpPr>
          <p:nvPr/>
        </p:nvCxnSpPr>
        <p:spPr>
          <a:xfrm rot="16200000" flipH="1">
            <a:off x="1071057" y="469913"/>
            <a:ext cx="398980" cy="1745122"/>
          </a:xfrm>
          <a:prstGeom prst="curvedConnector4">
            <a:avLst>
              <a:gd name="adj1" fmla="val -57296"/>
              <a:gd name="adj2" fmla="val 5526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a 45"/>
          <p:cNvCxnSpPr>
            <a:stCxn id="37" idx="0"/>
            <a:endCxn id="90" idx="1"/>
          </p:cNvCxnSpPr>
          <p:nvPr/>
        </p:nvCxnSpPr>
        <p:spPr>
          <a:xfrm rot="5400000" flipH="1" flipV="1">
            <a:off x="985812" y="3557588"/>
            <a:ext cx="458276" cy="171344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3929058" y="120827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netC</a:t>
            </a:r>
            <a:r>
              <a:rPr lang="en-US" sz="1400" dirty="0"/>
              <a:t> = -1,4</a:t>
            </a:r>
            <a:endParaRPr lang="pt-BR" sz="14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4643438" y="357166"/>
            <a:ext cx="817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-0,7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3929058" y="1643050"/>
            <a:ext cx="991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netD</a:t>
            </a:r>
            <a:r>
              <a:rPr lang="en-US" sz="1400" dirty="0"/>
              <a:t> = -4,1</a:t>
            </a:r>
            <a:endParaRPr lang="pt-BR" sz="14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4786314" y="1928802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-2,05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/>
          <p:cNvSpPr/>
          <p:nvPr/>
        </p:nvSpPr>
        <p:spPr>
          <a:xfrm>
            <a:off x="3357554" y="3143248"/>
            <a:ext cx="2286016" cy="14287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857356" y="571480"/>
            <a:ext cx="10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242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We,a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= 2,1</a:t>
            </a:r>
            <a:endParaRPr lang="pt-BR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169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Wc,b</a:t>
            </a:r>
            <a:r>
              <a:rPr lang="en-US" sz="1600" dirty="0"/>
              <a:t>  = -1,4</a:t>
            </a:r>
            <a:endParaRPr lang="pt-BR" sz="16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928794" y="4572008"/>
            <a:ext cx="1199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We,b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2,5</a:t>
            </a:r>
            <a:endParaRPr lang="pt-BR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286512" y="4500570"/>
            <a:ext cx="2857488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</a:t>
            </a: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 err="1"/>
              <a:t>netE</a:t>
            </a:r>
            <a:r>
              <a:rPr lang="en-US" sz="1600" i="1" dirty="0"/>
              <a:t> = </a:t>
            </a:r>
            <a:r>
              <a:rPr lang="en-US" sz="1600" i="1" dirty="0" err="1">
                <a:solidFill>
                  <a:schemeClr val="accent1">
                    <a:lumMod val="75000"/>
                  </a:schemeClr>
                </a:solidFill>
              </a:rPr>
              <a:t>A.w</a:t>
            </a:r>
            <a:r>
              <a:rPr lang="en-US" sz="1600" i="1" baseline="-25000" dirty="0" err="1">
                <a:solidFill>
                  <a:schemeClr val="accent1">
                    <a:lumMod val="75000"/>
                  </a:schemeClr>
                </a:solidFill>
              </a:rPr>
              <a:t>e,a</a:t>
            </a:r>
            <a:r>
              <a:rPr lang="en-US" sz="1600" i="1" dirty="0"/>
              <a:t> + </a:t>
            </a:r>
            <a:r>
              <a:rPr lang="en-US" sz="1600" i="1" dirty="0" err="1">
                <a:solidFill>
                  <a:srgbClr val="C00000"/>
                </a:solidFill>
              </a:rPr>
              <a:t>B.w</a:t>
            </a:r>
            <a:r>
              <a:rPr lang="en-US" sz="1600" i="1" baseline="-25000" dirty="0" err="1">
                <a:solidFill>
                  <a:srgbClr val="C00000"/>
                </a:solidFill>
              </a:rPr>
              <a:t>e,b</a:t>
            </a:r>
            <a:endParaRPr lang="en-US" sz="1600" i="1" baseline="-25000" dirty="0">
              <a:solidFill>
                <a:srgbClr val="C00000"/>
              </a:solidFill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netE</a:t>
            </a:r>
            <a:r>
              <a:rPr lang="en-US" sz="1600" i="1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0.2,1</a:t>
            </a:r>
            <a:r>
              <a:rPr lang="en-US" sz="1600" i="1" dirty="0">
                <a:solidFill>
                  <a:schemeClr val="accent1"/>
                </a:solidFill>
              </a:rPr>
              <a:t> + </a:t>
            </a:r>
            <a:r>
              <a:rPr lang="en-US" sz="1600" i="1" dirty="0">
                <a:solidFill>
                  <a:srgbClr val="C00000"/>
                </a:solidFill>
              </a:rPr>
              <a:t>1.2,5</a:t>
            </a:r>
            <a:r>
              <a:rPr lang="en-US" sz="1600" i="1" dirty="0">
                <a:solidFill>
                  <a:schemeClr val="accent1"/>
                </a:solidFill>
              </a:rPr>
              <a:t> = 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2,5</a:t>
            </a:r>
          </a:p>
          <a:p>
            <a:pPr algn="ctr"/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i="1" dirty="0" err="1">
                <a:solidFill>
                  <a:schemeClr val="accent4">
                    <a:lumMod val="75000"/>
                  </a:schemeClr>
                </a:solidFill>
              </a:rPr>
              <a:t>Saída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 de E (</a:t>
            </a:r>
            <a:r>
              <a:rPr lang="en-US" sz="1600" i="1" dirty="0" err="1">
                <a:solidFill>
                  <a:schemeClr val="accent4">
                    <a:lumMod val="75000"/>
                  </a:schemeClr>
                </a:solidFill>
              </a:rPr>
              <a:t>iE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)= 2,5/2 = </a:t>
            </a:r>
            <a:r>
              <a:rPr lang="en-US" sz="1600" b="1" i="1" dirty="0">
                <a:solidFill>
                  <a:schemeClr val="accent4">
                    <a:lumMod val="75000"/>
                  </a:schemeClr>
                </a:solidFill>
              </a:rPr>
              <a:t>1,25</a:t>
            </a:r>
            <a:endParaRPr lang="pt-BR" sz="1100" b="1" i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43" name="Conector em curva 42"/>
          <p:cNvCxnSpPr>
            <a:stCxn id="36" idx="2"/>
            <a:endCxn id="71" idx="1"/>
          </p:cNvCxnSpPr>
          <p:nvPr/>
        </p:nvCxnSpPr>
        <p:spPr>
          <a:xfrm rot="16200000" flipH="1">
            <a:off x="975477" y="1088713"/>
            <a:ext cx="375826" cy="153080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a 45"/>
          <p:cNvCxnSpPr>
            <a:stCxn id="37" idx="0"/>
            <a:endCxn id="91" idx="0"/>
          </p:cNvCxnSpPr>
          <p:nvPr/>
        </p:nvCxnSpPr>
        <p:spPr>
          <a:xfrm rot="5400000" flipH="1" flipV="1">
            <a:off x="1407586" y="3522652"/>
            <a:ext cx="71438" cy="2170151"/>
          </a:xfrm>
          <a:prstGeom prst="curvedConnector3">
            <a:avLst>
              <a:gd name="adj1" fmla="val 41999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3929058" y="120827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netC</a:t>
            </a:r>
            <a:r>
              <a:rPr lang="en-US" sz="1400" dirty="0"/>
              <a:t> = -1,4</a:t>
            </a:r>
            <a:endParaRPr lang="pt-BR" sz="14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4643438" y="357166"/>
            <a:ext cx="817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-0,7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3929058" y="1643050"/>
            <a:ext cx="991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netD</a:t>
            </a:r>
            <a:r>
              <a:rPr lang="en-US" sz="1400" dirty="0"/>
              <a:t> = -4,1</a:t>
            </a:r>
            <a:endParaRPr lang="pt-BR" sz="14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4786314" y="1928802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-2,05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4000496" y="3357562"/>
            <a:ext cx="914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netE</a:t>
            </a:r>
            <a:r>
              <a:rPr lang="en-US" sz="1400" dirty="0"/>
              <a:t> = 2,5</a:t>
            </a:r>
            <a:endParaRPr lang="pt-BR" sz="1400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4786314" y="3857628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tângulo 48"/>
          <p:cNvSpPr/>
          <p:nvPr/>
        </p:nvSpPr>
        <p:spPr>
          <a:xfrm>
            <a:off x="3357554" y="4929198"/>
            <a:ext cx="2286016" cy="14287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857356" y="571480"/>
            <a:ext cx="10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123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We,a</a:t>
            </a:r>
            <a:r>
              <a:rPr lang="en-US" sz="1600" dirty="0"/>
              <a:t>  = 2,1</a:t>
            </a:r>
            <a:endParaRPr lang="pt-BR" sz="16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1197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Wf,a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= 0,9</a:t>
            </a:r>
            <a:endParaRPr lang="pt-BR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169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Wc,b</a:t>
            </a:r>
            <a:r>
              <a:rPr lang="en-US" sz="1600" dirty="0"/>
              <a:t>  = -1,4</a:t>
            </a:r>
            <a:endParaRPr lang="pt-BR" sz="16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928794" y="4572008"/>
            <a:ext cx="108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We,b</a:t>
            </a:r>
            <a:r>
              <a:rPr lang="en-US" sz="1600" dirty="0"/>
              <a:t> = 2,5</a:t>
            </a:r>
            <a:endParaRPr lang="pt-BR" sz="16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277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Wf,b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= -1,0</a:t>
            </a:r>
            <a:endParaRPr lang="pt-BR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pt-BR" sz="28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pt-BR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286512" y="4500570"/>
            <a:ext cx="2857488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1:</a:t>
            </a: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.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 err="1"/>
              <a:t>netF</a:t>
            </a:r>
            <a:r>
              <a:rPr lang="en-US" sz="1600" i="1" dirty="0"/>
              <a:t> = </a:t>
            </a:r>
            <a:r>
              <a:rPr lang="en-US" sz="1600" i="1" dirty="0" err="1">
                <a:solidFill>
                  <a:schemeClr val="accent1">
                    <a:lumMod val="75000"/>
                  </a:schemeClr>
                </a:solidFill>
              </a:rPr>
              <a:t>A.w</a:t>
            </a:r>
            <a:r>
              <a:rPr lang="en-US" sz="1600" i="1" baseline="-25000" dirty="0" err="1">
                <a:solidFill>
                  <a:schemeClr val="accent1">
                    <a:lumMod val="75000"/>
                  </a:schemeClr>
                </a:solidFill>
              </a:rPr>
              <a:t>f,a</a:t>
            </a:r>
            <a:r>
              <a:rPr lang="en-US" sz="1600" i="1" dirty="0"/>
              <a:t> + </a:t>
            </a:r>
            <a:r>
              <a:rPr lang="en-US" sz="1600" i="1" dirty="0" err="1">
                <a:solidFill>
                  <a:srgbClr val="C00000"/>
                </a:solidFill>
              </a:rPr>
              <a:t>B.w</a:t>
            </a:r>
            <a:r>
              <a:rPr lang="en-US" sz="1600" i="1" baseline="-25000" dirty="0" err="1">
                <a:solidFill>
                  <a:srgbClr val="C00000"/>
                </a:solidFill>
              </a:rPr>
              <a:t>f,b</a:t>
            </a:r>
            <a:endParaRPr lang="en-US" sz="1600" i="1" baseline="-25000" dirty="0">
              <a:solidFill>
                <a:srgbClr val="C00000"/>
              </a:solidFill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netF</a:t>
            </a:r>
            <a:r>
              <a:rPr lang="en-US" sz="1600" i="1" dirty="0">
                <a:solidFill>
                  <a:schemeClr val="tx1"/>
                </a:solidFill>
              </a:rPr>
              <a:t> =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0.0,9</a:t>
            </a:r>
            <a:r>
              <a:rPr lang="en-US" sz="1600" i="1" dirty="0">
                <a:solidFill>
                  <a:schemeClr val="accent1"/>
                </a:solidFill>
              </a:rPr>
              <a:t> + </a:t>
            </a:r>
            <a:r>
              <a:rPr lang="en-US" sz="1600" i="1" dirty="0">
                <a:solidFill>
                  <a:srgbClr val="C00000"/>
                </a:solidFill>
              </a:rPr>
              <a:t>1.-1,0 </a:t>
            </a:r>
            <a:r>
              <a:rPr lang="en-US" sz="1600" i="1" dirty="0">
                <a:solidFill>
                  <a:schemeClr val="accent1"/>
                </a:solidFill>
              </a:rPr>
              <a:t>= 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</a:rPr>
              <a:t>-1,0</a:t>
            </a:r>
          </a:p>
          <a:p>
            <a:pPr algn="ctr"/>
            <a:endParaRPr lang="en-US" sz="1600" i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</a:rPr>
              <a:t>Saída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</a:rPr>
              <a:t> de E (</a:t>
            </a:r>
            <a:r>
              <a:rPr lang="en-US" sz="1600" i="1" dirty="0" err="1">
                <a:solidFill>
                  <a:schemeClr val="accent5">
                    <a:lumMod val="75000"/>
                  </a:schemeClr>
                </a:solidFill>
              </a:rPr>
              <a:t>iE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</a:rPr>
              <a:t>)= -1,0/2 = </a:t>
            </a:r>
            <a:r>
              <a:rPr lang="en-US" sz="1600" b="1" i="1" dirty="0">
                <a:solidFill>
                  <a:schemeClr val="accent5">
                    <a:lumMod val="75000"/>
                  </a:schemeClr>
                </a:solidFill>
              </a:rPr>
              <a:t>-0,5</a:t>
            </a:r>
            <a:endParaRPr lang="pt-BR" sz="1100" b="1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43" name="Conector em curva 42"/>
          <p:cNvCxnSpPr>
            <a:stCxn id="36" idx="2"/>
            <a:endCxn id="72" idx="1"/>
          </p:cNvCxnSpPr>
          <p:nvPr/>
        </p:nvCxnSpPr>
        <p:spPr>
          <a:xfrm rot="16200000" flipH="1">
            <a:off x="403973" y="1660217"/>
            <a:ext cx="1018768" cy="1030742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Forma 45"/>
          <p:cNvCxnSpPr>
            <a:stCxn id="37" idx="2"/>
            <a:endCxn id="92" idx="1"/>
          </p:cNvCxnSpPr>
          <p:nvPr/>
        </p:nvCxnSpPr>
        <p:spPr>
          <a:xfrm rot="16200000" flipH="1">
            <a:off x="839124" y="4685772"/>
            <a:ext cx="251586" cy="1213374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3929058" y="120827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netC</a:t>
            </a:r>
            <a:r>
              <a:rPr lang="en-US" sz="1400" dirty="0"/>
              <a:t> = -1,4</a:t>
            </a:r>
            <a:endParaRPr lang="pt-BR" sz="14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4643438" y="357166"/>
            <a:ext cx="817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-0,7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3929058" y="1643050"/>
            <a:ext cx="991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netD</a:t>
            </a:r>
            <a:r>
              <a:rPr lang="en-US" sz="1400" dirty="0"/>
              <a:t> = -4,1</a:t>
            </a:r>
            <a:endParaRPr lang="pt-BR" sz="14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4786314" y="1928802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-2,05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4000496" y="3357562"/>
            <a:ext cx="914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netE</a:t>
            </a:r>
            <a:r>
              <a:rPr lang="en-US" sz="1400" dirty="0"/>
              <a:t> = 2,5</a:t>
            </a:r>
            <a:endParaRPr lang="pt-BR" sz="1400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4786314" y="3857628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4214810" y="5143512"/>
            <a:ext cx="962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netF</a:t>
            </a:r>
            <a:r>
              <a:rPr lang="en-US" sz="1400" dirty="0"/>
              <a:t> = -1,0</a:t>
            </a:r>
            <a:endParaRPr lang="pt-BR" sz="1400" dirty="0"/>
          </a:p>
        </p:txBody>
      </p:sp>
      <p:sp>
        <p:nvSpPr>
          <p:cNvPr id="54" name="CaixaDeTexto 53"/>
          <p:cNvSpPr txBox="1"/>
          <p:nvPr/>
        </p:nvSpPr>
        <p:spPr>
          <a:xfrm>
            <a:off x="4786314" y="5572140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-0,5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/>
          <p:cNvSpPr/>
          <p:nvPr/>
        </p:nvSpPr>
        <p:spPr>
          <a:xfrm>
            <a:off x="6215074" y="2000240"/>
            <a:ext cx="2286016" cy="22860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571472" y="114298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71472" y="4643446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143372" y="357166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14810" y="1928802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8" name="Elipse 7"/>
          <p:cNvSpPr/>
          <p:nvPr/>
        </p:nvSpPr>
        <p:spPr>
          <a:xfrm>
            <a:off x="4214810" y="3643314"/>
            <a:ext cx="571504" cy="50006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4214810" y="5500702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429520" y="3000372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3" name="Conector de seta reta 12"/>
          <p:cNvCxnSpPr>
            <a:stCxn id="4" idx="6"/>
            <a:endCxn id="6" idx="2"/>
          </p:cNvCxnSpPr>
          <p:nvPr/>
        </p:nvCxnSpPr>
        <p:spPr>
          <a:xfrm flipV="1">
            <a:off x="1142976" y="607199"/>
            <a:ext cx="3000396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4" idx="6"/>
            <a:endCxn id="7" idx="2"/>
          </p:cNvCxnSpPr>
          <p:nvPr/>
        </p:nvCxnSpPr>
        <p:spPr>
          <a:xfrm>
            <a:off x="1142976" y="1393017"/>
            <a:ext cx="3071834" cy="785818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>
            <a:stCxn id="4" idx="6"/>
            <a:endCxn id="8" idx="2"/>
          </p:cNvCxnSpPr>
          <p:nvPr/>
        </p:nvCxnSpPr>
        <p:spPr>
          <a:xfrm>
            <a:off x="1142976" y="1393017"/>
            <a:ext cx="3071834" cy="250033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4" idx="6"/>
            <a:endCxn id="9" idx="1"/>
          </p:cNvCxnSpPr>
          <p:nvPr/>
        </p:nvCxnSpPr>
        <p:spPr>
          <a:xfrm>
            <a:off x="1142976" y="1393017"/>
            <a:ext cx="3155529" cy="41809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>
            <a:stCxn id="5" idx="6"/>
            <a:endCxn id="6" idx="3"/>
          </p:cNvCxnSpPr>
          <p:nvPr/>
        </p:nvCxnSpPr>
        <p:spPr>
          <a:xfrm flipV="1">
            <a:off x="1142976" y="783999"/>
            <a:ext cx="3084091" cy="4109480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>
            <a:stCxn id="5" idx="6"/>
            <a:endCxn id="7" idx="3"/>
          </p:cNvCxnSpPr>
          <p:nvPr/>
        </p:nvCxnSpPr>
        <p:spPr>
          <a:xfrm flipV="1">
            <a:off x="1142976" y="2355635"/>
            <a:ext cx="3155529" cy="2537844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ector de seta reta 32"/>
          <p:cNvCxnSpPr>
            <a:stCxn id="5" idx="6"/>
            <a:endCxn id="8" idx="3"/>
          </p:cNvCxnSpPr>
          <p:nvPr/>
        </p:nvCxnSpPr>
        <p:spPr>
          <a:xfrm flipV="1">
            <a:off x="1142976" y="4070147"/>
            <a:ext cx="3155529" cy="823332"/>
          </a:xfrm>
          <a:prstGeom prst="straightConnector1">
            <a:avLst/>
          </a:prstGeom>
          <a:ln w="3175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5" idx="6"/>
            <a:endCxn id="9" idx="2"/>
          </p:cNvCxnSpPr>
          <p:nvPr/>
        </p:nvCxnSpPr>
        <p:spPr>
          <a:xfrm>
            <a:off x="1142976" y="4893479"/>
            <a:ext cx="307183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6" idx="6"/>
            <a:endCxn id="10" idx="0"/>
          </p:cNvCxnSpPr>
          <p:nvPr/>
        </p:nvCxnSpPr>
        <p:spPr>
          <a:xfrm>
            <a:off x="4714876" y="607199"/>
            <a:ext cx="3000396" cy="239317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>
            <a:stCxn id="7" idx="6"/>
            <a:endCxn id="10" idx="1"/>
          </p:cNvCxnSpPr>
          <p:nvPr/>
        </p:nvCxnSpPr>
        <p:spPr>
          <a:xfrm>
            <a:off x="4786314" y="2178835"/>
            <a:ext cx="2726901" cy="8947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8" idx="6"/>
            <a:endCxn id="10" idx="2"/>
          </p:cNvCxnSpPr>
          <p:nvPr/>
        </p:nvCxnSpPr>
        <p:spPr>
          <a:xfrm flipV="1">
            <a:off x="4786314" y="3250405"/>
            <a:ext cx="264320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9" idx="6"/>
            <a:endCxn id="10" idx="3"/>
          </p:cNvCxnSpPr>
          <p:nvPr/>
        </p:nvCxnSpPr>
        <p:spPr>
          <a:xfrm flipV="1">
            <a:off x="4786314" y="3427205"/>
            <a:ext cx="2726901" cy="2323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9" name="CaixaDeTexto 68"/>
          <p:cNvSpPr txBox="1"/>
          <p:nvPr/>
        </p:nvSpPr>
        <p:spPr>
          <a:xfrm>
            <a:off x="1857356" y="571480"/>
            <a:ext cx="101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1,1</a:t>
            </a:r>
            <a:endParaRPr lang="pt-BR" baseline="-25000" dirty="0"/>
          </a:p>
        </p:txBody>
      </p:sp>
      <p:sp>
        <p:nvSpPr>
          <p:cNvPr id="70" name="CaixaDeTexto 69"/>
          <p:cNvSpPr txBox="1"/>
          <p:nvPr/>
        </p:nvSpPr>
        <p:spPr>
          <a:xfrm>
            <a:off x="2143108" y="1357298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71" name="CaixaDeTexto 70"/>
          <p:cNvSpPr txBox="1"/>
          <p:nvPr/>
        </p:nvSpPr>
        <p:spPr>
          <a:xfrm>
            <a:off x="1928794" y="1857364"/>
            <a:ext cx="1028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e,a</a:t>
            </a:r>
            <a:r>
              <a:rPr lang="en-US" sz="1600" dirty="0"/>
              <a:t>  = 2,1</a:t>
            </a:r>
            <a:endParaRPr lang="pt-BR" sz="1600" dirty="0"/>
          </a:p>
        </p:txBody>
      </p:sp>
      <p:sp>
        <p:nvSpPr>
          <p:cNvPr id="72" name="CaixaDeTexto 71"/>
          <p:cNvSpPr txBox="1"/>
          <p:nvPr/>
        </p:nvSpPr>
        <p:spPr>
          <a:xfrm>
            <a:off x="1428728" y="2500306"/>
            <a:ext cx="9857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f,a</a:t>
            </a:r>
            <a:r>
              <a:rPr lang="en-US" sz="1600" baseline="-25000" dirty="0"/>
              <a:t> </a:t>
            </a:r>
            <a:r>
              <a:rPr lang="en-US" sz="1600" dirty="0"/>
              <a:t> = 0,9</a:t>
            </a:r>
            <a:endParaRPr lang="pt-BR" baseline="-25000" dirty="0"/>
          </a:p>
        </p:txBody>
      </p:sp>
      <p:sp>
        <p:nvSpPr>
          <p:cNvPr id="89" name="CaixaDeTexto 88"/>
          <p:cNvSpPr txBox="1"/>
          <p:nvPr/>
        </p:nvSpPr>
        <p:spPr>
          <a:xfrm>
            <a:off x="1428979" y="3500438"/>
            <a:ext cx="1087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dirty="0"/>
              <a:t>  = -1,4</a:t>
            </a:r>
            <a:endParaRPr lang="pt-BR" sz="1600" dirty="0"/>
          </a:p>
        </p:txBody>
      </p:sp>
      <p:sp>
        <p:nvSpPr>
          <p:cNvPr id="90" name="CaixaDeTexto 89"/>
          <p:cNvSpPr txBox="1"/>
          <p:nvPr/>
        </p:nvSpPr>
        <p:spPr>
          <a:xfrm>
            <a:off x="2071670" y="4000504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-4,1</a:t>
            </a:r>
            <a:endParaRPr lang="pt-BR" baseline="-25000" dirty="0"/>
          </a:p>
        </p:txBody>
      </p:sp>
      <p:sp>
        <p:nvSpPr>
          <p:cNvPr id="91" name="CaixaDeTexto 90"/>
          <p:cNvSpPr txBox="1"/>
          <p:nvPr/>
        </p:nvSpPr>
        <p:spPr>
          <a:xfrm>
            <a:off x="1928794" y="4572008"/>
            <a:ext cx="9882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e,b</a:t>
            </a:r>
            <a:r>
              <a:rPr lang="en-US" sz="1600" dirty="0"/>
              <a:t> = 2,5</a:t>
            </a:r>
            <a:endParaRPr lang="pt-BR" sz="1600" dirty="0"/>
          </a:p>
        </p:txBody>
      </p:sp>
      <p:sp>
        <p:nvSpPr>
          <p:cNvPr id="92" name="CaixaDeTexto 91"/>
          <p:cNvSpPr txBox="1"/>
          <p:nvPr/>
        </p:nvSpPr>
        <p:spPr>
          <a:xfrm>
            <a:off x="1571604" y="5233586"/>
            <a:ext cx="10547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f,b</a:t>
            </a:r>
            <a:r>
              <a:rPr lang="en-US" sz="1600" baseline="-25000" dirty="0"/>
              <a:t> </a:t>
            </a:r>
            <a:r>
              <a:rPr lang="en-US" sz="1600" dirty="0"/>
              <a:t> = -1,0</a:t>
            </a:r>
            <a:endParaRPr lang="pt-BR" baseline="-25000" dirty="0"/>
          </a:p>
        </p:txBody>
      </p:sp>
      <p:sp>
        <p:nvSpPr>
          <p:cNvPr id="93" name="CaixaDeTexto 92"/>
          <p:cNvSpPr txBox="1"/>
          <p:nvPr/>
        </p:nvSpPr>
        <p:spPr>
          <a:xfrm>
            <a:off x="6286512" y="2071678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94" name="CaixaDeTexto 93"/>
          <p:cNvSpPr txBox="1"/>
          <p:nvPr/>
        </p:nvSpPr>
        <p:spPr>
          <a:xfrm>
            <a:off x="6286512" y="2643182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95" name="CaixaDeTexto 94"/>
          <p:cNvSpPr txBox="1"/>
          <p:nvPr/>
        </p:nvSpPr>
        <p:spPr>
          <a:xfrm>
            <a:off x="6274316" y="3071810"/>
            <a:ext cx="1014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g,e</a:t>
            </a:r>
            <a:r>
              <a:rPr lang="en-US" sz="1600" baseline="-25000" dirty="0"/>
              <a:t> </a:t>
            </a:r>
            <a:r>
              <a:rPr lang="en-US" sz="1600" dirty="0"/>
              <a:t> = 4,3</a:t>
            </a:r>
            <a:endParaRPr lang="pt-BR" baseline="-25000" dirty="0"/>
          </a:p>
        </p:txBody>
      </p:sp>
      <p:sp>
        <p:nvSpPr>
          <p:cNvPr id="96" name="CaixaDeTexto 95"/>
          <p:cNvSpPr txBox="1"/>
          <p:nvPr/>
        </p:nvSpPr>
        <p:spPr>
          <a:xfrm>
            <a:off x="6286512" y="3876264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214282" y="114298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pt-BR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74526" y="464344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</a:t>
            </a:r>
            <a:endParaRPr lang="pt-BR" sz="2400" dirty="0">
              <a:solidFill>
                <a:srgbClr val="C0000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6286512" y="4734342"/>
            <a:ext cx="2857488" cy="21236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2: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 err="1"/>
              <a:t>Devemos</a:t>
            </a:r>
            <a:r>
              <a:rPr lang="en-US" sz="1600" dirty="0"/>
              <a:t> </a:t>
            </a:r>
            <a:r>
              <a:rPr lang="en-US" sz="1600" dirty="0" err="1"/>
              <a:t>calcular</a:t>
            </a:r>
            <a:r>
              <a:rPr lang="en-US" sz="1600" dirty="0"/>
              <a:t> o </a:t>
            </a:r>
            <a:r>
              <a:rPr lang="en-US" sz="1600" i="1" dirty="0"/>
              <a:t>net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Neurônios</a:t>
            </a:r>
            <a:r>
              <a:rPr lang="en-US" sz="1600" dirty="0"/>
              <a:t> </a:t>
            </a:r>
            <a:r>
              <a:rPr lang="en-US" sz="1600" dirty="0" err="1"/>
              <a:t>da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r>
              <a:rPr lang="en-US" sz="1600" dirty="0"/>
              <a:t>. </a:t>
            </a:r>
            <a:r>
              <a:rPr lang="en-US" sz="1600" dirty="0" err="1"/>
              <a:t>Nesse</a:t>
            </a:r>
            <a:r>
              <a:rPr lang="en-US" sz="1600" dirty="0"/>
              <a:t> </a:t>
            </a:r>
            <a:r>
              <a:rPr lang="en-US" sz="1600" dirty="0" err="1"/>
              <a:t>caso</a:t>
            </a:r>
            <a:r>
              <a:rPr lang="en-US" sz="1600" dirty="0"/>
              <a:t>, a </a:t>
            </a:r>
            <a:r>
              <a:rPr lang="en-US" sz="1600" dirty="0" err="1"/>
              <a:t>saída</a:t>
            </a:r>
            <a:r>
              <a:rPr lang="en-US" sz="1600" dirty="0"/>
              <a:t> de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neurônio</a:t>
            </a:r>
            <a:r>
              <a:rPr lang="en-US" sz="1600" dirty="0"/>
              <a:t> </a:t>
            </a:r>
            <a:r>
              <a:rPr lang="en-US" sz="1600" dirty="0" err="1"/>
              <a:t>da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oculta</a:t>
            </a:r>
            <a:r>
              <a:rPr lang="en-US" sz="1600" dirty="0"/>
              <a:t> (</a:t>
            </a:r>
            <a:r>
              <a:rPr lang="en-US" sz="1600" dirty="0" err="1"/>
              <a:t>iC</a:t>
            </a:r>
            <a:r>
              <a:rPr lang="en-US" sz="1600" dirty="0"/>
              <a:t>, </a:t>
            </a:r>
            <a:r>
              <a:rPr lang="en-US" sz="1600" dirty="0" err="1"/>
              <a:t>iD</a:t>
            </a:r>
            <a:r>
              <a:rPr lang="en-US" sz="1600" dirty="0"/>
              <a:t>, </a:t>
            </a:r>
            <a:r>
              <a:rPr lang="en-US" sz="1600" dirty="0" err="1"/>
              <a:t>iE</a:t>
            </a:r>
            <a:r>
              <a:rPr lang="en-US" sz="1600" dirty="0"/>
              <a:t> e </a:t>
            </a:r>
            <a:r>
              <a:rPr lang="en-US" sz="1600" dirty="0" err="1"/>
              <a:t>iF</a:t>
            </a:r>
            <a:r>
              <a:rPr lang="en-US" sz="1600" dirty="0"/>
              <a:t>) se </a:t>
            </a:r>
            <a:r>
              <a:rPr lang="en-US" sz="1600" dirty="0" err="1"/>
              <a:t>tornam</a:t>
            </a:r>
            <a:r>
              <a:rPr lang="en-US" sz="1600" dirty="0"/>
              <a:t> </a:t>
            </a:r>
            <a:r>
              <a:rPr lang="en-US" sz="1600" dirty="0" err="1"/>
              <a:t>entradas</a:t>
            </a:r>
            <a:r>
              <a:rPr lang="en-US" sz="1600" dirty="0"/>
              <a:t> </a:t>
            </a:r>
            <a:r>
              <a:rPr lang="en-US" sz="1600" dirty="0" err="1"/>
              <a:t>para</a:t>
            </a:r>
            <a:r>
              <a:rPr lang="en-US" sz="1600" dirty="0"/>
              <a:t> o </a:t>
            </a:r>
            <a:r>
              <a:rPr lang="en-US" sz="1600" dirty="0" err="1"/>
              <a:t>neurônio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r>
              <a:rPr lang="en-US" sz="1600" dirty="0"/>
              <a:t> G.</a:t>
            </a:r>
          </a:p>
          <a:p>
            <a:pPr algn="ctr"/>
            <a:endParaRPr lang="en-US" sz="1600" dirty="0"/>
          </a:p>
        </p:txBody>
      </p:sp>
      <p:sp>
        <p:nvSpPr>
          <p:cNvPr id="50" name="CaixaDeTexto 49"/>
          <p:cNvSpPr txBox="1"/>
          <p:nvPr/>
        </p:nvSpPr>
        <p:spPr>
          <a:xfrm>
            <a:off x="3929058" y="120827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netC</a:t>
            </a:r>
            <a:r>
              <a:rPr lang="en-US" sz="1400" dirty="0"/>
              <a:t> = -1,4</a:t>
            </a:r>
            <a:endParaRPr lang="pt-BR" sz="1400" dirty="0"/>
          </a:p>
        </p:txBody>
      </p:sp>
      <p:sp>
        <p:nvSpPr>
          <p:cNvPr id="51" name="CaixaDeTexto 50"/>
          <p:cNvSpPr txBox="1"/>
          <p:nvPr/>
        </p:nvSpPr>
        <p:spPr>
          <a:xfrm>
            <a:off x="4643438" y="357166"/>
            <a:ext cx="8178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-0,7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3929058" y="1643050"/>
            <a:ext cx="991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netD</a:t>
            </a:r>
            <a:r>
              <a:rPr lang="en-US" sz="1400" dirty="0"/>
              <a:t> = -4,1</a:t>
            </a:r>
            <a:endParaRPr lang="pt-BR" sz="1400" dirty="0"/>
          </a:p>
        </p:txBody>
      </p:sp>
      <p:sp>
        <p:nvSpPr>
          <p:cNvPr id="48" name="CaixaDeTexto 47"/>
          <p:cNvSpPr txBox="1"/>
          <p:nvPr/>
        </p:nvSpPr>
        <p:spPr>
          <a:xfrm>
            <a:off x="4786314" y="1928802"/>
            <a:ext cx="928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-2,05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4000496" y="3357562"/>
            <a:ext cx="914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netE</a:t>
            </a:r>
            <a:r>
              <a:rPr lang="en-US" sz="1400" dirty="0"/>
              <a:t> = 2,5</a:t>
            </a:r>
            <a:endParaRPr lang="pt-BR" sz="1400" dirty="0"/>
          </a:p>
        </p:txBody>
      </p:sp>
      <p:sp>
        <p:nvSpPr>
          <p:cNvPr id="52" name="CaixaDeTexto 51"/>
          <p:cNvSpPr txBox="1"/>
          <p:nvPr/>
        </p:nvSpPr>
        <p:spPr>
          <a:xfrm>
            <a:off x="4786314" y="3857628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4214810" y="5143512"/>
            <a:ext cx="962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netF</a:t>
            </a:r>
            <a:r>
              <a:rPr lang="en-US" sz="1400" dirty="0"/>
              <a:t> = -1,0</a:t>
            </a:r>
            <a:endParaRPr lang="pt-BR" sz="1400" dirty="0"/>
          </a:p>
        </p:txBody>
      </p:sp>
      <p:sp>
        <p:nvSpPr>
          <p:cNvPr id="54" name="CaixaDeTexto 53"/>
          <p:cNvSpPr txBox="1"/>
          <p:nvPr/>
        </p:nvSpPr>
        <p:spPr>
          <a:xfrm>
            <a:off x="4786314" y="5572140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-0,5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3" y="0"/>
            <a:ext cx="2857488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= 1</a:t>
            </a:r>
            <a:endParaRPr lang="pt-BR" sz="1400" dirty="0"/>
          </a:p>
        </p:txBody>
      </p:sp>
      <p:grpSp>
        <p:nvGrpSpPr>
          <p:cNvPr id="46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cxnSp>
        <p:nvCxnSpPr>
          <p:cNvPr id="56" name="Forma 55"/>
          <p:cNvCxnSpPr>
            <a:stCxn id="51" idx="3"/>
            <a:endCxn id="93" idx="0"/>
          </p:cNvCxnSpPr>
          <p:nvPr/>
        </p:nvCxnSpPr>
        <p:spPr>
          <a:xfrm>
            <a:off x="1786271" y="511055"/>
            <a:ext cx="1327602" cy="156062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Forma 57"/>
          <p:cNvCxnSpPr>
            <a:stCxn id="54" idx="3"/>
            <a:endCxn id="96" idx="2"/>
          </p:cNvCxnSpPr>
          <p:nvPr/>
        </p:nvCxnSpPr>
        <p:spPr>
          <a:xfrm flipV="1">
            <a:off x="1916323" y="4214818"/>
            <a:ext cx="1189535" cy="1511211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2786050" y="9286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485968" y="50720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4214818"/>
            <a:ext cx="5072066" cy="26468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2: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Cálculo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i="1" dirty="0" err="1"/>
              <a:t>netG</a:t>
            </a:r>
            <a:r>
              <a:rPr lang="en-US" sz="1600" dirty="0"/>
              <a:t> =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iC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*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w</a:t>
            </a:r>
            <a:r>
              <a:rPr lang="en-US" sz="1600" baseline="-25000" dirty="0" err="1">
                <a:solidFill>
                  <a:schemeClr val="accent6">
                    <a:lumMod val="75000"/>
                  </a:schemeClr>
                </a:solidFill>
              </a:rPr>
              <a:t>g,c</a:t>
            </a:r>
            <a:r>
              <a:rPr lang="en-US" sz="1600" dirty="0"/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 *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w</a:t>
            </a:r>
            <a:r>
              <a:rPr lang="en-US" sz="1600" baseline="-25000" dirty="0" err="1">
                <a:solidFill>
                  <a:schemeClr val="accent3">
                    <a:lumMod val="75000"/>
                  </a:schemeClr>
                </a:solidFill>
              </a:rPr>
              <a:t>g,d</a:t>
            </a:r>
            <a:r>
              <a:rPr lang="en-US" sz="1600" dirty="0"/>
              <a:t> +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iE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*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w</a:t>
            </a:r>
            <a:r>
              <a:rPr lang="en-US" sz="1600" baseline="-25000" dirty="0" err="1">
                <a:solidFill>
                  <a:schemeClr val="accent4">
                    <a:lumMod val="75000"/>
                  </a:schemeClr>
                </a:solidFill>
              </a:rPr>
              <a:t>g,e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600" dirty="0"/>
              <a:t>+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iF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 *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w</a:t>
            </a:r>
            <a:r>
              <a:rPr lang="en-US" sz="1600" baseline="-25000" dirty="0" err="1">
                <a:solidFill>
                  <a:schemeClr val="accent5">
                    <a:lumMod val="50000"/>
                  </a:schemeClr>
                </a:solidFill>
              </a:rPr>
              <a:t>g,f</a:t>
            </a:r>
            <a:endParaRPr lang="en-US" sz="1600" baseline="-250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1600" i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sz="1600" i="1" dirty="0" err="1"/>
              <a:t>netG</a:t>
            </a:r>
            <a:r>
              <a:rPr lang="en-US" sz="1600" i="1" dirty="0"/>
              <a:t> = </a:t>
            </a:r>
            <a:r>
              <a:rPr lang="en-US" sz="1600" i="1" dirty="0">
                <a:solidFill>
                  <a:schemeClr val="accent6">
                    <a:lumMod val="75000"/>
                  </a:schemeClr>
                </a:solidFill>
              </a:rPr>
              <a:t>-0,7 * 1,2 </a:t>
            </a:r>
            <a:r>
              <a:rPr lang="en-US" sz="1600" i="1" dirty="0"/>
              <a:t>+ </a:t>
            </a:r>
            <a:r>
              <a:rPr lang="en-US" sz="1600" i="1" dirty="0">
                <a:solidFill>
                  <a:schemeClr val="accent3">
                    <a:lumMod val="75000"/>
                  </a:schemeClr>
                </a:solidFill>
              </a:rPr>
              <a:t>(-2,05*1,6) </a:t>
            </a:r>
            <a:r>
              <a:rPr lang="en-US" sz="1600" i="1" dirty="0"/>
              <a:t>+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1,25*4,3</a:t>
            </a:r>
            <a:r>
              <a:rPr lang="en-US" sz="1600" i="1" dirty="0"/>
              <a:t> +</a:t>
            </a: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</a:rPr>
              <a:t>(-0,5 * 3,2)</a:t>
            </a:r>
            <a:r>
              <a:rPr lang="en-US" sz="1600" i="1" dirty="0"/>
              <a:t> =</a:t>
            </a:r>
          </a:p>
          <a:p>
            <a:pPr algn="ctr"/>
            <a:r>
              <a:rPr lang="en-US" sz="1600" b="1" i="1" dirty="0"/>
              <a:t>-0,35</a:t>
            </a:r>
          </a:p>
          <a:p>
            <a:pPr algn="ctr"/>
            <a:endParaRPr lang="en-US" sz="1600" i="1" dirty="0"/>
          </a:p>
          <a:p>
            <a:pPr algn="ctr"/>
            <a:r>
              <a:rPr lang="en-US" sz="1600" i="1" dirty="0"/>
              <a:t>A </a:t>
            </a:r>
            <a:r>
              <a:rPr lang="en-US" sz="1600" i="1" dirty="0" err="1"/>
              <a:t>saída</a:t>
            </a:r>
            <a:r>
              <a:rPr lang="en-US" sz="1600" i="1" dirty="0"/>
              <a:t> de G segue a </a:t>
            </a:r>
            <a:r>
              <a:rPr lang="en-US" sz="1600" i="1" dirty="0" err="1"/>
              <a:t>mesma</a:t>
            </a:r>
            <a:r>
              <a:rPr lang="en-US" sz="1600" i="1" dirty="0"/>
              <a:t> </a:t>
            </a:r>
            <a:r>
              <a:rPr lang="en-US" sz="1600" i="1" dirty="0" err="1"/>
              <a:t>função</a:t>
            </a:r>
            <a:r>
              <a:rPr lang="en-US" sz="1600" i="1" dirty="0"/>
              <a:t> </a:t>
            </a:r>
            <a:r>
              <a:rPr lang="en-US" sz="1600" i="1" dirty="0" err="1"/>
              <a:t>da</a:t>
            </a:r>
            <a:r>
              <a:rPr lang="en-US" sz="1600" i="1" dirty="0"/>
              <a:t> </a:t>
            </a:r>
            <a:r>
              <a:rPr lang="en-US" sz="1600" i="1" dirty="0" err="1"/>
              <a:t>camada</a:t>
            </a:r>
            <a:r>
              <a:rPr lang="en-US" sz="1600" i="1" dirty="0"/>
              <a:t> </a:t>
            </a:r>
            <a:r>
              <a:rPr lang="en-US" sz="1600" i="1" dirty="0" err="1"/>
              <a:t>oculta</a:t>
            </a:r>
            <a:r>
              <a:rPr lang="en-US" sz="1600" i="1" dirty="0"/>
              <a:t>, </a:t>
            </a:r>
            <a:r>
              <a:rPr lang="en-US" sz="1600" i="1" dirty="0" err="1"/>
              <a:t>mas</a:t>
            </a:r>
            <a:r>
              <a:rPr lang="en-US" sz="1600" i="1" dirty="0"/>
              <a:t> </a:t>
            </a:r>
            <a:r>
              <a:rPr lang="en-US" sz="1600" i="1" dirty="0" err="1"/>
              <a:t>isso</a:t>
            </a:r>
            <a:r>
              <a:rPr lang="en-US" sz="1600" i="1" dirty="0"/>
              <a:t> </a:t>
            </a:r>
            <a:r>
              <a:rPr lang="en-US" sz="1600" i="1" dirty="0" err="1"/>
              <a:t>não</a:t>
            </a:r>
            <a:r>
              <a:rPr lang="en-US" sz="1600" i="1" dirty="0"/>
              <a:t> é </a:t>
            </a:r>
            <a:r>
              <a:rPr lang="en-US" sz="1600" i="1" dirty="0" err="1"/>
              <a:t>obrigatório</a:t>
            </a:r>
            <a:r>
              <a:rPr lang="en-US" sz="1600" i="1" dirty="0"/>
              <a:t>!</a:t>
            </a:r>
          </a:p>
          <a:p>
            <a:pPr algn="ctr"/>
            <a:endParaRPr lang="en-US" sz="1600" i="1" dirty="0"/>
          </a:p>
          <a:p>
            <a:pPr algn="ctr"/>
            <a:r>
              <a:rPr lang="en-US" b="1" dirty="0" err="1"/>
              <a:t>iG</a:t>
            </a:r>
            <a:r>
              <a:rPr lang="en-US" b="1" dirty="0"/>
              <a:t> = -0,35/2 = -0,17</a:t>
            </a:r>
          </a:p>
        </p:txBody>
      </p:sp>
      <p:cxnSp>
        <p:nvCxnSpPr>
          <p:cNvPr id="67" name="Conector em curva 66"/>
          <p:cNvCxnSpPr>
            <a:stCxn id="52" idx="0"/>
            <a:endCxn id="95" idx="1"/>
          </p:cNvCxnSpPr>
          <p:nvPr/>
        </p:nvCxnSpPr>
        <p:spPr>
          <a:xfrm rot="5400000" flipH="1" flipV="1">
            <a:off x="1759102" y="3017435"/>
            <a:ext cx="616541" cy="1063847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Forma 73"/>
          <p:cNvCxnSpPr>
            <a:stCxn id="48" idx="2"/>
            <a:endCxn id="94" idx="1"/>
          </p:cNvCxnSpPr>
          <p:nvPr/>
        </p:nvCxnSpPr>
        <p:spPr>
          <a:xfrm rot="16200000" flipH="1">
            <a:off x="1805568" y="2006535"/>
            <a:ext cx="575880" cy="103596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/>
          <p:cNvSpPr txBox="1"/>
          <p:nvPr/>
        </p:nvSpPr>
        <p:spPr>
          <a:xfrm>
            <a:off x="1785918" y="26431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1785918" y="30718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3" y="0"/>
            <a:ext cx="2857488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2000" dirty="0" err="1">
                <a:solidFill>
                  <a:srgbClr val="FF0000"/>
                </a:solidFill>
              </a:rPr>
              <a:t>Saída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desejada</a:t>
            </a:r>
            <a:r>
              <a:rPr lang="en-US" sz="2000" dirty="0">
                <a:solidFill>
                  <a:srgbClr val="FF0000"/>
                </a:solidFill>
              </a:rPr>
              <a:t> = 1</a:t>
            </a:r>
            <a:endParaRPr lang="pt-BR" sz="2000" dirty="0">
              <a:solidFill>
                <a:srgbClr val="FF0000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cxnSp>
        <p:nvCxnSpPr>
          <p:cNvPr id="56" name="Forma 55"/>
          <p:cNvCxnSpPr>
            <a:stCxn id="51" idx="3"/>
            <a:endCxn id="93" idx="0"/>
          </p:cNvCxnSpPr>
          <p:nvPr/>
        </p:nvCxnSpPr>
        <p:spPr>
          <a:xfrm>
            <a:off x="1786271" y="511055"/>
            <a:ext cx="1327602" cy="156062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Forma 57"/>
          <p:cNvCxnSpPr>
            <a:stCxn id="54" idx="3"/>
            <a:endCxn id="96" idx="2"/>
          </p:cNvCxnSpPr>
          <p:nvPr/>
        </p:nvCxnSpPr>
        <p:spPr>
          <a:xfrm flipV="1">
            <a:off x="1916323" y="4214818"/>
            <a:ext cx="1189535" cy="1511211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/>
          <p:cNvSpPr txBox="1"/>
          <p:nvPr/>
        </p:nvSpPr>
        <p:spPr>
          <a:xfrm>
            <a:off x="2786050" y="92867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485968" y="50720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571876"/>
            <a:ext cx="5072066" cy="29854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3: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/>
              <a:t>Para </a:t>
            </a:r>
            <a:r>
              <a:rPr lang="en-US" sz="1400" dirty="0" err="1"/>
              <a:t>calcular</a:t>
            </a:r>
            <a:r>
              <a:rPr lang="en-US" sz="1400" dirty="0"/>
              <a:t> o </a:t>
            </a:r>
            <a:r>
              <a:rPr lang="en-US" sz="1400" dirty="0" err="1"/>
              <a:t>erro</a:t>
            </a:r>
            <a:r>
              <a:rPr lang="en-US" sz="1400" dirty="0"/>
              <a:t> da </a:t>
            </a:r>
            <a:r>
              <a:rPr lang="en-US" sz="1400" dirty="0" err="1"/>
              <a:t>saída</a:t>
            </a:r>
            <a:r>
              <a:rPr lang="en-US" sz="1400" dirty="0"/>
              <a:t>, </a:t>
            </a:r>
            <a:r>
              <a:rPr lang="en-US" sz="1400" dirty="0" err="1"/>
              <a:t>devemos</a:t>
            </a:r>
            <a:r>
              <a:rPr lang="en-US" sz="1400" dirty="0"/>
              <a:t> </a:t>
            </a:r>
            <a:r>
              <a:rPr lang="en-US" sz="1400" dirty="0" err="1"/>
              <a:t>subtrair</a:t>
            </a:r>
            <a:r>
              <a:rPr lang="en-US" sz="1400" dirty="0"/>
              <a:t> da </a:t>
            </a:r>
            <a:r>
              <a:rPr lang="en-US" sz="1400" dirty="0" err="1"/>
              <a:t>saída</a:t>
            </a:r>
            <a:r>
              <a:rPr lang="en-US" sz="1400" dirty="0"/>
              <a:t> </a:t>
            </a:r>
            <a:r>
              <a:rPr lang="en-US" sz="1400" dirty="0" err="1"/>
              <a:t>Desejada</a:t>
            </a:r>
            <a:r>
              <a:rPr lang="en-US" sz="1400" dirty="0"/>
              <a:t> o valor </a:t>
            </a:r>
            <a:r>
              <a:rPr lang="en-US" sz="1400" dirty="0" err="1"/>
              <a:t>obtido</a:t>
            </a:r>
            <a:r>
              <a:rPr lang="en-US" sz="1400" dirty="0"/>
              <a:t>. </a:t>
            </a:r>
          </a:p>
          <a:p>
            <a:pPr algn="ctr"/>
            <a:r>
              <a:rPr lang="en-US" sz="1400" dirty="0" err="1"/>
              <a:t>Em</a:t>
            </a:r>
            <a:r>
              <a:rPr lang="en-US" sz="1400" dirty="0"/>
              <a:t> </a:t>
            </a:r>
            <a:r>
              <a:rPr lang="en-US" sz="1400" dirty="0" err="1"/>
              <a:t>seguida</a:t>
            </a:r>
            <a:r>
              <a:rPr lang="en-US" sz="1400" dirty="0"/>
              <a:t>, </a:t>
            </a:r>
            <a:r>
              <a:rPr lang="en-US" sz="1400" dirty="0" err="1"/>
              <a:t>calculado</a:t>
            </a:r>
            <a:r>
              <a:rPr lang="en-US" sz="1400" dirty="0"/>
              <a:t> o </a:t>
            </a:r>
            <a:r>
              <a:rPr lang="en-US" sz="1400" b="1" dirty="0" err="1">
                <a:solidFill>
                  <a:srgbClr val="FF0000"/>
                </a:solidFill>
              </a:rPr>
              <a:t>gradiente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dirty="0" err="1"/>
              <a:t>multiplicando</a:t>
            </a:r>
            <a:r>
              <a:rPr lang="en-US" sz="1400" dirty="0"/>
              <a:t> </a:t>
            </a:r>
            <a:r>
              <a:rPr lang="en-US" sz="1400" dirty="0" err="1"/>
              <a:t>esse</a:t>
            </a:r>
            <a:r>
              <a:rPr lang="en-US" sz="1400" dirty="0"/>
              <a:t> </a:t>
            </a:r>
            <a:r>
              <a:rPr lang="en-US" sz="1400" dirty="0" err="1"/>
              <a:t>erro</a:t>
            </a:r>
            <a:r>
              <a:rPr lang="en-US" sz="1400" dirty="0"/>
              <a:t> pela </a:t>
            </a:r>
            <a:r>
              <a:rPr lang="en-US" sz="1400" dirty="0" err="1"/>
              <a:t>derivada</a:t>
            </a:r>
            <a:r>
              <a:rPr lang="en-US" sz="1400" dirty="0"/>
              <a:t> da </a:t>
            </a:r>
            <a:r>
              <a:rPr lang="en-US" sz="1400" dirty="0" err="1"/>
              <a:t>Função</a:t>
            </a:r>
            <a:r>
              <a:rPr lang="en-US" sz="1400" dirty="0"/>
              <a:t> de </a:t>
            </a:r>
            <a:r>
              <a:rPr lang="en-US" sz="1400" dirty="0" err="1"/>
              <a:t>Saída</a:t>
            </a:r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Como </a:t>
            </a:r>
            <a:r>
              <a:rPr lang="en-US" sz="1400" dirty="0" err="1"/>
              <a:t>usamos</a:t>
            </a:r>
            <a:r>
              <a:rPr lang="en-US" sz="1400" dirty="0"/>
              <a:t> </a:t>
            </a:r>
            <a:r>
              <a:rPr lang="en-US" sz="1400" dirty="0" err="1"/>
              <a:t>como</a:t>
            </a:r>
            <a:r>
              <a:rPr lang="en-US" sz="1400" dirty="0"/>
              <a:t> </a:t>
            </a:r>
            <a:r>
              <a:rPr lang="en-US" sz="1400" dirty="0" err="1"/>
              <a:t>função</a:t>
            </a:r>
            <a:r>
              <a:rPr lang="en-US" sz="1400" dirty="0"/>
              <a:t> de </a:t>
            </a:r>
            <a:r>
              <a:rPr lang="en-US" sz="1400" dirty="0" err="1"/>
              <a:t>saída</a:t>
            </a:r>
            <a:r>
              <a:rPr lang="en-US" sz="1400" dirty="0"/>
              <a:t> </a:t>
            </a:r>
          </a:p>
          <a:p>
            <a:pPr algn="ctr"/>
            <a:r>
              <a:rPr lang="en-US" sz="1600" i="1" dirty="0"/>
              <a:t>f(x) = x/2</a:t>
            </a:r>
            <a:r>
              <a:rPr lang="en-US" sz="1600" dirty="0"/>
              <a:t>,  </a:t>
            </a:r>
            <a:r>
              <a:rPr lang="en-US" sz="1600" dirty="0" err="1"/>
              <a:t>sua</a:t>
            </a:r>
            <a:r>
              <a:rPr lang="en-US" sz="1600" dirty="0"/>
              <a:t> </a:t>
            </a:r>
            <a:r>
              <a:rPr lang="en-US" sz="1600" dirty="0" err="1"/>
              <a:t>derivada</a:t>
            </a:r>
            <a:r>
              <a:rPr lang="en-US" sz="1600" dirty="0"/>
              <a:t> é </a:t>
            </a:r>
            <a:r>
              <a:rPr lang="en-US" b="1" i="1" dirty="0">
                <a:solidFill>
                  <a:schemeClr val="accent4">
                    <a:lumMod val="75000"/>
                  </a:schemeClr>
                </a:solidFill>
              </a:rPr>
              <a:t>f’(x) = ½ =0,5</a:t>
            </a:r>
            <a:r>
              <a:rPr lang="en-US" sz="1600" dirty="0"/>
              <a:t>.</a:t>
            </a:r>
          </a:p>
          <a:p>
            <a:pPr algn="ctr"/>
            <a:r>
              <a:rPr lang="en-US" sz="1400" dirty="0" err="1"/>
              <a:t>Sendo</a:t>
            </a:r>
            <a:r>
              <a:rPr lang="en-US" sz="1400" dirty="0"/>
              <a:t> </a:t>
            </a:r>
            <a:r>
              <a:rPr lang="en-US" sz="1400" dirty="0" err="1"/>
              <a:t>assim</a:t>
            </a:r>
            <a:r>
              <a:rPr lang="en-US" sz="1400" dirty="0"/>
              <a:t>, o </a:t>
            </a:r>
            <a:r>
              <a:rPr lang="en-US" sz="1400" dirty="0" err="1"/>
              <a:t>Erro</a:t>
            </a:r>
            <a:r>
              <a:rPr lang="en-US" sz="1400" dirty="0"/>
              <a:t> </a:t>
            </a:r>
            <a:r>
              <a:rPr lang="en-US" sz="1400" dirty="0" err="1"/>
              <a:t>da</a:t>
            </a:r>
            <a:r>
              <a:rPr lang="en-US" sz="1400" dirty="0"/>
              <a:t> </a:t>
            </a:r>
            <a:r>
              <a:rPr lang="en-US" sz="1400" dirty="0" err="1"/>
              <a:t>saída</a:t>
            </a:r>
            <a:r>
              <a:rPr lang="en-US" sz="1400" dirty="0"/>
              <a:t> G é:</a:t>
            </a:r>
          </a:p>
          <a:p>
            <a:pPr algn="ctr"/>
            <a:endParaRPr lang="en-US" sz="1600" dirty="0"/>
          </a:p>
          <a:p>
            <a:pPr algn="ctr"/>
            <a:r>
              <a:rPr lang="en-US" sz="1600" i="1" dirty="0" err="1"/>
              <a:t>ErroG</a:t>
            </a:r>
            <a:r>
              <a:rPr lang="en-US" sz="1600" i="1" dirty="0"/>
              <a:t> = (</a:t>
            </a:r>
            <a:r>
              <a:rPr lang="en-US" sz="1600" i="1" dirty="0" err="1">
                <a:solidFill>
                  <a:srgbClr val="FF0000"/>
                </a:solidFill>
              </a:rPr>
              <a:t>DesejadoG</a:t>
            </a:r>
            <a:r>
              <a:rPr lang="en-US" sz="1600" i="1" dirty="0"/>
              <a:t> – </a:t>
            </a:r>
            <a:r>
              <a:rPr lang="en-US" sz="1600" i="1" dirty="0" err="1"/>
              <a:t>iG</a:t>
            </a:r>
            <a:r>
              <a:rPr lang="en-US" sz="1600" i="1" dirty="0"/>
              <a:t>).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f’(</a:t>
            </a:r>
            <a:r>
              <a:rPr lang="en-US" sz="1600" i="1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600" i="1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pPr algn="ctr"/>
            <a:endParaRPr lang="en-US" sz="1600" i="1" dirty="0"/>
          </a:p>
          <a:p>
            <a:pPr algn="ctr"/>
            <a:r>
              <a:rPr lang="en-US" sz="1600" i="1" dirty="0" err="1"/>
              <a:t>ErroG</a:t>
            </a:r>
            <a:r>
              <a:rPr lang="en-US" sz="1600" i="1" dirty="0"/>
              <a:t> = (</a:t>
            </a:r>
            <a:r>
              <a:rPr lang="en-US" sz="1600" b="1" i="1" dirty="0">
                <a:solidFill>
                  <a:srgbClr val="FF0000"/>
                </a:solidFill>
              </a:rPr>
              <a:t>1</a:t>
            </a:r>
            <a:r>
              <a:rPr lang="en-US" sz="1600" i="1" dirty="0"/>
              <a:t>-(-0,17)) . </a:t>
            </a:r>
            <a:r>
              <a:rPr lang="en-US" sz="1600" b="1" i="1" dirty="0">
                <a:solidFill>
                  <a:schemeClr val="accent4">
                    <a:lumMod val="75000"/>
                  </a:schemeClr>
                </a:solidFill>
              </a:rPr>
              <a:t>0,5 </a:t>
            </a:r>
            <a:r>
              <a:rPr lang="en-US" sz="1600" b="1" i="1" dirty="0">
                <a:solidFill>
                  <a:schemeClr val="tx1"/>
                </a:solidFill>
              </a:rPr>
              <a:t>= 0,58</a:t>
            </a:r>
          </a:p>
        </p:txBody>
      </p:sp>
      <p:cxnSp>
        <p:nvCxnSpPr>
          <p:cNvPr id="67" name="Conector em curva 66"/>
          <p:cNvCxnSpPr>
            <a:stCxn id="52" idx="0"/>
            <a:endCxn id="95" idx="1"/>
          </p:cNvCxnSpPr>
          <p:nvPr/>
        </p:nvCxnSpPr>
        <p:spPr>
          <a:xfrm rot="5400000" flipH="1" flipV="1">
            <a:off x="1759102" y="3017435"/>
            <a:ext cx="616541" cy="1063847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Forma 73"/>
          <p:cNvCxnSpPr>
            <a:stCxn id="48" idx="2"/>
            <a:endCxn id="94" idx="1"/>
          </p:cNvCxnSpPr>
          <p:nvPr/>
        </p:nvCxnSpPr>
        <p:spPr>
          <a:xfrm rot="16200000" flipH="1">
            <a:off x="1805568" y="2006535"/>
            <a:ext cx="575880" cy="103596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/>
          <p:cNvSpPr txBox="1"/>
          <p:nvPr/>
        </p:nvSpPr>
        <p:spPr>
          <a:xfrm>
            <a:off x="1785918" y="26431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76" name="CaixaDeTexto 75"/>
          <p:cNvSpPr txBox="1"/>
          <p:nvPr/>
        </p:nvSpPr>
        <p:spPr>
          <a:xfrm>
            <a:off x="1785918" y="30718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cxnSp>
        <p:nvCxnSpPr>
          <p:cNvPr id="65" name="Conector em curva 64"/>
          <p:cNvCxnSpPr>
            <a:stCxn id="98" idx="2"/>
          </p:cNvCxnSpPr>
          <p:nvPr/>
        </p:nvCxnSpPr>
        <p:spPr>
          <a:xfrm rot="5400000">
            <a:off x="4973809" y="2973568"/>
            <a:ext cx="4268466" cy="1214431"/>
          </a:xfrm>
          <a:prstGeom prst="curvedConnector3">
            <a:avLst>
              <a:gd name="adj1" fmla="val 336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em curva 72"/>
          <p:cNvCxnSpPr/>
          <p:nvPr/>
        </p:nvCxnSpPr>
        <p:spPr>
          <a:xfrm rot="5400000">
            <a:off x="7500958" y="5286388"/>
            <a:ext cx="642942" cy="21431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em curva 78"/>
          <p:cNvCxnSpPr>
            <a:stCxn id="62" idx="2"/>
          </p:cNvCxnSpPr>
          <p:nvPr/>
        </p:nvCxnSpPr>
        <p:spPr>
          <a:xfrm rot="16200000" flipH="1">
            <a:off x="5189896" y="3761144"/>
            <a:ext cx="2211096" cy="155377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3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desejada</a:t>
            </a:r>
            <a:r>
              <a:rPr lang="en-US" sz="1600" dirty="0">
                <a:solidFill>
                  <a:schemeClr val="tx1"/>
                </a:solidFill>
              </a:rPr>
              <a:t> = 1</a:t>
            </a:r>
            <a:endParaRPr lang="pt-BR" sz="1600" dirty="0">
              <a:solidFill>
                <a:schemeClr val="tx1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47726" y="3350585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571876"/>
            <a:ext cx="5072066" cy="33547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4: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i="1" dirty="0"/>
          </a:p>
          <a:p>
            <a:pPr algn="ctr"/>
            <a:r>
              <a:rPr lang="en-US" sz="1600" dirty="0"/>
              <a:t>O </a:t>
            </a:r>
            <a:r>
              <a:rPr lang="en-US" sz="1600" dirty="0" err="1"/>
              <a:t>erro</a:t>
            </a:r>
            <a:r>
              <a:rPr lang="en-US" sz="1600" dirty="0"/>
              <a:t> </a:t>
            </a:r>
            <a:r>
              <a:rPr lang="en-US" sz="1600" dirty="0" err="1"/>
              <a:t>da</a:t>
            </a:r>
            <a:r>
              <a:rPr lang="en-US" sz="1600" dirty="0"/>
              <a:t> </a:t>
            </a:r>
            <a:r>
              <a:rPr lang="en-US" sz="1600" dirty="0" err="1"/>
              <a:t>rede</a:t>
            </a:r>
            <a:r>
              <a:rPr lang="en-US" sz="1600" dirty="0"/>
              <a:t> </a:t>
            </a:r>
            <a:r>
              <a:rPr lang="en-US" sz="1600" dirty="0" err="1"/>
              <a:t>deve</a:t>
            </a:r>
            <a:r>
              <a:rPr lang="en-US" sz="1600" dirty="0"/>
              <a:t> ser </a:t>
            </a:r>
            <a:r>
              <a:rPr lang="en-US" sz="1600" dirty="0" err="1"/>
              <a:t>calculado</a:t>
            </a:r>
            <a:r>
              <a:rPr lang="en-US" sz="1600" dirty="0"/>
              <a:t> de forma a se saber se o </a:t>
            </a:r>
            <a:r>
              <a:rPr lang="en-US" sz="1600" dirty="0" err="1"/>
              <a:t>treinamento</a:t>
            </a:r>
            <a:r>
              <a:rPr lang="en-US" sz="1600" dirty="0"/>
              <a:t> </a:t>
            </a:r>
            <a:r>
              <a:rPr lang="en-US" sz="1600" dirty="0" err="1"/>
              <a:t>deve</a:t>
            </a:r>
            <a:r>
              <a:rPr lang="en-US" sz="1600" dirty="0"/>
              <a:t> </a:t>
            </a:r>
            <a:r>
              <a:rPr lang="en-US" sz="1600" dirty="0" err="1"/>
              <a:t>continuar</a:t>
            </a:r>
            <a:r>
              <a:rPr lang="en-US" sz="1600" dirty="0"/>
              <a:t> </a:t>
            </a:r>
            <a:r>
              <a:rPr lang="en-US" sz="1600" dirty="0" err="1"/>
              <a:t>ou</a:t>
            </a:r>
            <a:r>
              <a:rPr lang="en-US" sz="1600" dirty="0"/>
              <a:t> </a:t>
            </a:r>
            <a:r>
              <a:rPr lang="en-US" sz="1600" dirty="0" err="1"/>
              <a:t>não</a:t>
            </a:r>
            <a:r>
              <a:rPr lang="en-US" sz="1600" dirty="0"/>
              <a:t>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Como </a:t>
            </a:r>
            <a:r>
              <a:rPr lang="en-US" sz="1600" dirty="0" err="1">
                <a:solidFill>
                  <a:schemeClr val="tx1"/>
                </a:solidFill>
              </a:rPr>
              <a:t>em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muitos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casos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rede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não</a:t>
            </a:r>
            <a:r>
              <a:rPr lang="en-US" sz="1600" dirty="0">
                <a:solidFill>
                  <a:schemeClr val="tx1"/>
                </a:solidFill>
              </a:rPr>
              <a:t> converge, </a:t>
            </a:r>
            <a:r>
              <a:rPr lang="en-US" sz="1600" dirty="0" err="1">
                <a:solidFill>
                  <a:schemeClr val="tx1"/>
                </a:solidFill>
              </a:rPr>
              <a:t>ou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seja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=0, </a:t>
            </a:r>
            <a:r>
              <a:rPr lang="en-US" sz="1600" dirty="0" err="1">
                <a:solidFill>
                  <a:schemeClr val="tx1"/>
                </a:solidFill>
              </a:rPr>
              <a:t>então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podemos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definir</a:t>
            </a:r>
            <a:r>
              <a:rPr lang="en-US" sz="1600" dirty="0">
                <a:solidFill>
                  <a:schemeClr val="tx1"/>
                </a:solidFill>
              </a:rPr>
              <a:t> um </a:t>
            </a:r>
            <a:r>
              <a:rPr lang="en-US" sz="1600" dirty="0" err="1">
                <a:solidFill>
                  <a:schemeClr val="tx1"/>
                </a:solidFill>
              </a:rPr>
              <a:t>limite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 err="1">
                <a:solidFill>
                  <a:schemeClr val="tx1"/>
                </a:solidFill>
              </a:rPr>
              <a:t>Caso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geral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seja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menor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que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esse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limiar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então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treinamento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para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rede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temos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b="1" i="1" dirty="0">
              <a:solidFill>
                <a:schemeClr val="tx1"/>
              </a:solidFill>
            </a:endParaRPr>
          </a:p>
          <a:p>
            <a:pPr algn="ctr"/>
            <a:endParaRPr lang="en-US" sz="1600" b="1" i="1" dirty="0">
              <a:solidFill>
                <a:schemeClr val="tx1"/>
              </a:solidFill>
            </a:endParaRPr>
          </a:p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345157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/>
              <a:t>ErroG</a:t>
            </a:r>
            <a:r>
              <a:rPr lang="en-US" i="1" dirty="0"/>
              <a:t> </a:t>
            </a:r>
            <a:r>
              <a:rPr lang="en-US" b="1" i="1" dirty="0">
                <a:solidFill>
                  <a:schemeClr val="tx1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2355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29256" y="5987144"/>
            <a:ext cx="3128065" cy="785794"/>
          </a:xfrm>
          <a:prstGeom prst="rect">
            <a:avLst/>
          </a:prstGeom>
          <a:noFill/>
        </p:spPr>
      </p:pic>
      <p:sp>
        <p:nvSpPr>
          <p:cNvPr id="56" name="CaixaDeTexto 55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88917" y="3360910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564815"/>
            <a:ext cx="5072066" cy="32932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4: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/>
              <a:t>Como </a:t>
            </a:r>
            <a:r>
              <a:rPr lang="en-US" sz="1600" dirty="0" err="1"/>
              <a:t>temos</a:t>
            </a:r>
            <a:r>
              <a:rPr lang="en-US" sz="1600" dirty="0"/>
              <a:t> </a:t>
            </a:r>
            <a:r>
              <a:rPr lang="en-US" sz="1600" dirty="0" err="1"/>
              <a:t>apenas</a:t>
            </a:r>
            <a:r>
              <a:rPr lang="en-US" sz="1600" dirty="0"/>
              <a:t> 1 </a:t>
            </a:r>
            <a:r>
              <a:rPr lang="en-US" sz="1600" dirty="0" err="1"/>
              <a:t>neurônio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r>
              <a:rPr lang="en-US" sz="1600" dirty="0"/>
              <a:t>, </a:t>
            </a:r>
            <a:r>
              <a:rPr lang="en-US" sz="1600" dirty="0" err="1"/>
              <a:t>que</a:t>
            </a:r>
            <a:r>
              <a:rPr lang="en-US" sz="1600" dirty="0"/>
              <a:t> é o G, </a:t>
            </a:r>
            <a:r>
              <a:rPr lang="en-US" sz="1600" dirty="0" err="1"/>
              <a:t>aplicamos</a:t>
            </a:r>
            <a:r>
              <a:rPr lang="en-US" sz="1600" dirty="0"/>
              <a:t> </a:t>
            </a:r>
            <a:r>
              <a:rPr lang="en-US" sz="1600" dirty="0" err="1"/>
              <a:t>ele</a:t>
            </a:r>
            <a:r>
              <a:rPr lang="en-US" sz="1600" dirty="0"/>
              <a:t> à </a:t>
            </a:r>
            <a:r>
              <a:rPr lang="en-US" sz="1600" dirty="0" err="1"/>
              <a:t>fórmula</a:t>
            </a:r>
            <a:r>
              <a:rPr lang="en-US" sz="1600" dirty="0"/>
              <a:t>, </a:t>
            </a:r>
            <a:r>
              <a:rPr lang="en-US" sz="1600" dirty="0" err="1"/>
              <a:t>senão</a:t>
            </a:r>
            <a:r>
              <a:rPr lang="en-US" sz="1600" dirty="0"/>
              <a:t> </a:t>
            </a:r>
            <a:r>
              <a:rPr lang="en-US" sz="1600" dirty="0" err="1"/>
              <a:t>bastaria</a:t>
            </a:r>
            <a:r>
              <a:rPr lang="en-US" sz="1600" dirty="0"/>
              <a:t> </a:t>
            </a:r>
            <a:r>
              <a:rPr lang="en-US" sz="1600" dirty="0" err="1"/>
              <a:t>somar</a:t>
            </a:r>
            <a:r>
              <a:rPr lang="en-US" sz="1600" dirty="0"/>
              <a:t> o </a:t>
            </a:r>
            <a:r>
              <a:rPr lang="en-US" sz="1600" dirty="0" err="1"/>
              <a:t>quadrado</a:t>
            </a:r>
            <a:r>
              <a:rPr lang="en-US" sz="1600" dirty="0"/>
              <a:t> de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erro</a:t>
            </a:r>
            <a:r>
              <a:rPr lang="en-US" sz="1600" dirty="0"/>
              <a:t> dos </a:t>
            </a:r>
            <a:r>
              <a:rPr lang="en-US" sz="1600" dirty="0" err="1"/>
              <a:t>neurônios</a:t>
            </a:r>
            <a:r>
              <a:rPr lang="en-US" sz="1600" dirty="0"/>
              <a:t> de </a:t>
            </a:r>
            <a:r>
              <a:rPr lang="en-US" sz="1600" dirty="0" err="1"/>
              <a:t>saída</a:t>
            </a:r>
            <a:r>
              <a:rPr lang="en-US" sz="1600" dirty="0"/>
              <a:t>, </a:t>
            </a:r>
          </a:p>
          <a:p>
            <a:pPr algn="ctr"/>
            <a:r>
              <a:rPr lang="en-US" sz="1600" dirty="0"/>
              <a:t>se </a:t>
            </a:r>
            <a:r>
              <a:rPr lang="en-US" sz="1600" dirty="0" err="1"/>
              <a:t>houvesse</a:t>
            </a:r>
            <a:r>
              <a:rPr lang="en-US" sz="1600" dirty="0"/>
              <a:t> </a:t>
            </a:r>
            <a:r>
              <a:rPr lang="en-US" sz="1600" dirty="0" err="1"/>
              <a:t>mais</a:t>
            </a:r>
            <a:r>
              <a:rPr lang="en-US" sz="1600" dirty="0"/>
              <a:t> de 1:</a:t>
            </a:r>
          </a:p>
          <a:p>
            <a:pPr algn="ctr"/>
            <a:endParaRPr lang="en-US" sz="1600" i="1" dirty="0">
              <a:solidFill>
                <a:schemeClr val="tx1"/>
              </a:solidFill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ErroRede</a:t>
            </a:r>
            <a:r>
              <a:rPr lang="en-US" sz="1600" i="1" dirty="0">
                <a:solidFill>
                  <a:schemeClr val="tx1"/>
                </a:solidFill>
              </a:rPr>
              <a:t> = 0,5 . (</a:t>
            </a:r>
            <a:r>
              <a:rPr lang="en-US" sz="1600" i="1" dirty="0" err="1">
                <a:solidFill>
                  <a:schemeClr val="tx1"/>
                </a:solidFill>
              </a:rPr>
              <a:t>Desejado</a:t>
            </a:r>
            <a:r>
              <a:rPr lang="en-US" sz="1600" i="1" dirty="0">
                <a:solidFill>
                  <a:schemeClr val="tx1"/>
                </a:solidFill>
              </a:rPr>
              <a:t> - </a:t>
            </a:r>
            <a:r>
              <a:rPr lang="en-US" sz="1600" i="1" dirty="0" err="1">
                <a:solidFill>
                  <a:schemeClr val="tx1"/>
                </a:solidFill>
              </a:rPr>
              <a:t>Obtido</a:t>
            </a:r>
            <a:r>
              <a:rPr lang="en-US" sz="1600" i="1" dirty="0">
                <a:solidFill>
                  <a:schemeClr val="tx1"/>
                </a:solidFill>
              </a:rPr>
              <a:t>)²</a:t>
            </a:r>
          </a:p>
          <a:p>
            <a:pPr algn="ctr"/>
            <a:r>
              <a:rPr lang="en-US" sz="1600" i="1" dirty="0" err="1">
                <a:solidFill>
                  <a:schemeClr val="tx1"/>
                </a:solidFill>
              </a:rPr>
              <a:t>ErroRede</a:t>
            </a:r>
            <a:r>
              <a:rPr lang="en-US" sz="1600" i="1" dirty="0">
                <a:solidFill>
                  <a:schemeClr val="tx1"/>
                </a:solidFill>
              </a:rPr>
              <a:t> = 0,5 . (1 – (-0,17)) ²</a:t>
            </a:r>
          </a:p>
          <a:p>
            <a:pPr algn="ctr"/>
            <a:r>
              <a:rPr lang="en-US" sz="2000" b="1" i="1" dirty="0" err="1">
                <a:solidFill>
                  <a:srgbClr val="C00000"/>
                </a:solidFill>
              </a:rPr>
              <a:t>ErroRede</a:t>
            </a:r>
            <a:r>
              <a:rPr lang="en-US" sz="2000" b="1" i="1" dirty="0">
                <a:solidFill>
                  <a:srgbClr val="C00000"/>
                </a:solidFill>
              </a:rPr>
              <a:t> = 0,6844</a:t>
            </a:r>
          </a:p>
          <a:p>
            <a:pPr algn="ctr"/>
            <a:endParaRPr lang="en-US" sz="2000" b="1" dirty="0">
              <a:solidFill>
                <a:schemeClr val="tx1"/>
              </a:solidFill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</a:rPr>
              <a:t>Supondo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que</a:t>
            </a:r>
            <a:r>
              <a:rPr lang="en-US" b="1" dirty="0">
                <a:solidFill>
                  <a:schemeClr val="tx1"/>
                </a:solidFill>
              </a:rPr>
              <a:t> o </a:t>
            </a:r>
            <a:r>
              <a:rPr lang="en-US" b="1" dirty="0" err="1">
                <a:solidFill>
                  <a:schemeClr val="tx1"/>
                </a:solidFill>
              </a:rPr>
              <a:t>limiar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seja</a:t>
            </a:r>
            <a:r>
              <a:rPr lang="en-US" b="1" dirty="0">
                <a:solidFill>
                  <a:schemeClr val="tx1"/>
                </a:solidFill>
              </a:rPr>
              <a:t> 0,0001, </a:t>
            </a:r>
            <a:r>
              <a:rPr lang="en-US" b="1" dirty="0" err="1">
                <a:solidFill>
                  <a:schemeClr val="tx1"/>
                </a:solidFill>
              </a:rPr>
              <a:t>então</a:t>
            </a:r>
            <a:r>
              <a:rPr lang="en-US" b="1" dirty="0">
                <a:solidFill>
                  <a:schemeClr val="tx1"/>
                </a:solidFill>
              </a:rPr>
              <a:t> o </a:t>
            </a:r>
            <a:r>
              <a:rPr lang="en-US" b="1" dirty="0" err="1">
                <a:solidFill>
                  <a:schemeClr val="tx1"/>
                </a:solidFill>
              </a:rPr>
              <a:t>erro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está</a:t>
            </a:r>
            <a:r>
              <a:rPr lang="en-US" b="1" dirty="0">
                <a:solidFill>
                  <a:schemeClr val="tx1"/>
                </a:solidFill>
              </a:rPr>
              <a:t> alto e </a:t>
            </a:r>
            <a:r>
              <a:rPr lang="en-US" b="1" dirty="0" err="1">
                <a:solidFill>
                  <a:schemeClr val="tx1"/>
                </a:solidFill>
              </a:rPr>
              <a:t>os</a:t>
            </a:r>
            <a:r>
              <a:rPr lang="en-US" b="1" dirty="0">
                <a:solidFill>
                  <a:schemeClr val="tx1"/>
                </a:solidFill>
              </a:rPr>
              <a:t> pesos </a:t>
            </a:r>
            <a:r>
              <a:rPr lang="en-US" b="1" dirty="0" err="1">
                <a:solidFill>
                  <a:schemeClr val="tx1"/>
                </a:solidFill>
              </a:rPr>
              <a:t>devem</a:t>
            </a:r>
            <a:r>
              <a:rPr lang="en-US" b="1" dirty="0">
                <a:solidFill>
                  <a:schemeClr val="tx1"/>
                </a:solidFill>
              </a:rPr>
              <a:t> ser </a:t>
            </a:r>
            <a:r>
              <a:rPr lang="en-US" b="1" dirty="0" err="1">
                <a:solidFill>
                  <a:schemeClr val="tx1"/>
                </a:solidFill>
              </a:rPr>
              <a:t>corrigidos</a:t>
            </a:r>
            <a:r>
              <a:rPr lang="en-US" b="1" dirty="0">
                <a:solidFill>
                  <a:schemeClr val="tx1"/>
                </a:solidFill>
              </a:rPr>
              <a:t>!</a:t>
            </a:r>
            <a:r>
              <a:rPr lang="en-US" sz="1600" b="1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345157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/>
              <a:t>ErroG</a:t>
            </a:r>
            <a:r>
              <a:rPr lang="en-US" i="1" dirty="0"/>
              <a:t> </a:t>
            </a:r>
            <a:r>
              <a:rPr lang="en-US" b="1" i="1" dirty="0">
                <a:solidFill>
                  <a:schemeClr val="tx1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6" name="CaixaDeTexto 55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pSp>
        <p:nvGrpSpPr>
          <p:cNvPr id="56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7" name="Retângulo 56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Elipse 57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9" name="Elipse 58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0" name="Elipse 59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65" name="Elipse 64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66" name="Elipse 65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67" name="Elipse 66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68" name="Elipse 67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73" name="Conector de seta reta 72"/>
            <p:cNvCxnSpPr>
              <a:stCxn id="58" idx="6"/>
              <a:endCxn id="60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de seta reta 73"/>
            <p:cNvCxnSpPr>
              <a:stCxn id="58" idx="6"/>
              <a:endCxn id="65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de seta reta 74"/>
            <p:cNvCxnSpPr>
              <a:stCxn id="58" idx="6"/>
              <a:endCxn id="66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/>
            <p:cNvCxnSpPr>
              <a:stCxn id="58" idx="6"/>
              <a:endCxn id="67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de seta reta 76"/>
            <p:cNvCxnSpPr>
              <a:stCxn id="59" idx="6"/>
              <a:endCxn id="60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Conector de seta reta 77"/>
            <p:cNvCxnSpPr>
              <a:stCxn id="59" idx="6"/>
              <a:endCxn id="65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>
              <a:stCxn id="59" idx="6"/>
              <a:endCxn id="66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Conector de seta reta 79"/>
            <p:cNvCxnSpPr>
              <a:stCxn id="59" idx="6"/>
              <a:endCxn id="67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Conector de seta reta 80"/>
            <p:cNvCxnSpPr>
              <a:stCxn id="60" idx="6"/>
              <a:endCxn id="68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2" name="Conector de seta reta 81"/>
            <p:cNvCxnSpPr>
              <a:stCxn id="65" idx="6"/>
              <a:endCxn id="68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3" name="Conector de seta reta 82"/>
            <p:cNvCxnSpPr>
              <a:stCxn id="66" idx="6"/>
              <a:endCxn id="68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4" name="Conector de seta reta 83"/>
            <p:cNvCxnSpPr>
              <a:stCxn id="67" idx="6"/>
              <a:endCxn id="68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85" name="CaixaDeTexto 84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86" name="CaixaDeTexto 85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97" name="CaixaDeTexto 96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9" name="CaixaDeTexto 98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100" name="CaixaDeTexto 99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102" name="CaixaDeTexto 101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103" name="CaixaDeTexto 102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104" name="CaixaDeTexto 103"/>
            <p:cNvSpPr txBox="1"/>
            <p:nvPr/>
          </p:nvSpPr>
          <p:spPr>
            <a:xfrm>
              <a:off x="6288917" y="3335336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105" name="CaixaDeTexto 104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106" name="CaixaDeTexto 10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107" name="CaixaDeTexto 10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108" name="CaixaDeTexto 107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109" name="CaixaDeTexto 108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0" name="CaixaDeTexto 109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111" name="CaixaDeTexto 110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12" name="CaixaDeTexto 111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113" name="CaixaDeTexto 112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115" name="CaixaDeTexto 114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117" name="CaixaDeTexto 116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18" name="Conector de seta reta 117"/>
          <p:cNvCxnSpPr>
            <a:endCxn id="117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Retângulo 118"/>
          <p:cNvSpPr/>
          <p:nvPr/>
        </p:nvSpPr>
        <p:spPr>
          <a:xfrm>
            <a:off x="6345157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/>
              <a:t>ErroG</a:t>
            </a:r>
            <a:r>
              <a:rPr lang="en-US" i="1" dirty="0"/>
              <a:t> </a:t>
            </a:r>
            <a:r>
              <a:rPr lang="en-US" b="1" i="1" dirty="0">
                <a:solidFill>
                  <a:schemeClr val="tx1"/>
                </a:solidFill>
              </a:rPr>
              <a:t>= 0,58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4071934" y="3564815"/>
            <a:ext cx="5072066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5: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Toda a </a:t>
            </a:r>
            <a:r>
              <a:rPr lang="en-US" sz="1600" dirty="0" err="1">
                <a:solidFill>
                  <a:schemeClr val="tx1"/>
                </a:solidFill>
              </a:rPr>
              <a:t>atualização</a:t>
            </a:r>
            <a:r>
              <a:rPr lang="en-US" sz="1600" dirty="0">
                <a:solidFill>
                  <a:schemeClr val="tx1"/>
                </a:solidFill>
              </a:rPr>
              <a:t> de pesos </a:t>
            </a:r>
            <a:r>
              <a:rPr lang="en-US" sz="1600" dirty="0" err="1">
                <a:solidFill>
                  <a:schemeClr val="tx1"/>
                </a:solidFill>
              </a:rPr>
              <a:t>apenas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ocorre</a:t>
            </a:r>
            <a:r>
              <a:rPr lang="en-US" sz="1600" dirty="0">
                <a:solidFill>
                  <a:schemeClr val="tx1"/>
                </a:solidFill>
              </a:rPr>
              <a:t> se </a:t>
            </a:r>
            <a:r>
              <a:rPr lang="en-US" sz="1600" dirty="0" err="1">
                <a:solidFill>
                  <a:schemeClr val="tx1"/>
                </a:solidFill>
              </a:rPr>
              <a:t>soubermos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associado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cada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neurônio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assim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como</a:t>
            </a:r>
            <a:r>
              <a:rPr lang="en-US" sz="1600" dirty="0">
                <a:solidFill>
                  <a:schemeClr val="tx1"/>
                </a:solidFill>
              </a:rPr>
              <a:t> no </a:t>
            </a:r>
            <a:r>
              <a:rPr lang="en-US" sz="1600" dirty="0" err="1">
                <a:solidFill>
                  <a:schemeClr val="tx1"/>
                </a:solidFill>
              </a:rPr>
              <a:t>Perceptron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 </a:t>
            </a:r>
            <a:r>
              <a:rPr lang="en-US" sz="1600" dirty="0" err="1">
                <a:solidFill>
                  <a:schemeClr val="tx1"/>
                </a:solidFill>
              </a:rPr>
              <a:t>Gradiente</a:t>
            </a:r>
            <a:r>
              <a:rPr lang="en-US" sz="1600" dirty="0">
                <a:solidFill>
                  <a:schemeClr val="tx1"/>
                </a:solidFill>
              </a:rPr>
              <a:t> do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do </a:t>
            </a:r>
            <a:r>
              <a:rPr lang="en-US" sz="1600" dirty="0" err="1">
                <a:solidFill>
                  <a:schemeClr val="tx1"/>
                </a:solidFill>
              </a:rPr>
              <a:t>neurônio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G </a:t>
            </a:r>
            <a:r>
              <a:rPr lang="en-US" sz="1600" dirty="0" err="1">
                <a:solidFill>
                  <a:schemeClr val="tx1"/>
                </a:solidFill>
              </a:rPr>
              <a:t>já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foi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calculado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isso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basta</a:t>
            </a:r>
            <a:r>
              <a:rPr lang="en-US" sz="1600" dirty="0">
                <a:solidFill>
                  <a:schemeClr val="tx1"/>
                </a:solidFill>
              </a:rPr>
              <a:t> para </a:t>
            </a:r>
            <a:r>
              <a:rPr lang="en-US" sz="1600" dirty="0" err="1">
                <a:solidFill>
                  <a:schemeClr val="tx1"/>
                </a:solidFill>
              </a:rPr>
              <a:t>atualizarmos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os</a:t>
            </a:r>
            <a:r>
              <a:rPr lang="en-US" sz="1600" dirty="0">
                <a:solidFill>
                  <a:schemeClr val="tx1"/>
                </a:solidFill>
              </a:rPr>
              <a:t> pesos da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g,d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g,e</a:t>
            </a:r>
            <a:r>
              <a:rPr lang="en-US" sz="1600" dirty="0">
                <a:solidFill>
                  <a:schemeClr val="tx1"/>
                </a:solidFill>
              </a:rPr>
              <a:t> e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g,f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Entretanto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temos</a:t>
            </a:r>
            <a:r>
              <a:rPr lang="en-US" sz="1600" dirty="0">
                <a:solidFill>
                  <a:schemeClr val="tx1"/>
                </a:solidFill>
              </a:rPr>
              <a:t> que </a:t>
            </a:r>
            <a:r>
              <a:rPr lang="en-US" sz="1600" dirty="0" err="1">
                <a:solidFill>
                  <a:schemeClr val="tx1"/>
                </a:solidFill>
              </a:rPr>
              <a:t>atualizar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os</a:t>
            </a:r>
            <a:r>
              <a:rPr lang="en-US" sz="1600" dirty="0">
                <a:solidFill>
                  <a:schemeClr val="tx1"/>
                </a:solidFill>
              </a:rPr>
              <a:t> pesos da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 e, para </a:t>
            </a:r>
            <a:r>
              <a:rPr lang="en-US" sz="1600" dirty="0" err="1">
                <a:solidFill>
                  <a:schemeClr val="tx1"/>
                </a:solidFill>
              </a:rPr>
              <a:t>isso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gradientes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erros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cada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neurônio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dessa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b="1" i="1" dirty="0" err="1">
                <a:solidFill>
                  <a:schemeClr val="tx1"/>
                </a:solidFill>
              </a:rPr>
              <a:t>ErroC</a:t>
            </a:r>
            <a:r>
              <a:rPr lang="en-US" sz="1600" b="1" i="1" dirty="0">
                <a:solidFill>
                  <a:schemeClr val="tx1"/>
                </a:solidFill>
              </a:rPr>
              <a:t>, </a:t>
            </a:r>
            <a:r>
              <a:rPr lang="en-US" sz="1600" b="1" i="1" dirty="0" err="1">
                <a:solidFill>
                  <a:schemeClr val="tx1"/>
                </a:solidFill>
              </a:rPr>
              <a:t>ErroD</a:t>
            </a:r>
            <a:r>
              <a:rPr lang="en-US" sz="1600" b="1" i="1" dirty="0">
                <a:solidFill>
                  <a:schemeClr val="tx1"/>
                </a:solidFill>
              </a:rPr>
              <a:t>, </a:t>
            </a:r>
            <a:r>
              <a:rPr lang="en-US" sz="1600" b="1" i="1" dirty="0" err="1">
                <a:solidFill>
                  <a:schemeClr val="tx1"/>
                </a:solidFill>
              </a:rPr>
              <a:t>ErroE</a:t>
            </a:r>
            <a:r>
              <a:rPr lang="en-US" sz="1600" b="1" i="1" dirty="0">
                <a:solidFill>
                  <a:schemeClr val="tx1"/>
                </a:solidFill>
              </a:rPr>
              <a:t> e </a:t>
            </a:r>
            <a:r>
              <a:rPr lang="en-US" sz="1600" b="1" i="1" dirty="0" err="1">
                <a:solidFill>
                  <a:schemeClr val="tx1"/>
                </a:solidFill>
              </a:rPr>
              <a:t>ErroF</a:t>
            </a:r>
            <a:endParaRPr lang="en-US" sz="1200" b="1" i="1" dirty="0">
              <a:solidFill>
                <a:schemeClr val="tx1"/>
              </a:solidFill>
            </a:endParaRPr>
          </a:p>
        </p:txBody>
      </p:sp>
      <p:sp>
        <p:nvSpPr>
          <p:cNvPr id="52" name="CaixaDeTexto 51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86512" y="3307803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872591"/>
            <a:ext cx="5072066" cy="29854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5: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soma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Erros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conectados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multiplicados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pelos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respectivos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pesos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Depois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multiplicamos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esse</a:t>
            </a:r>
            <a:r>
              <a:rPr lang="en-US" sz="1600" dirty="0">
                <a:solidFill>
                  <a:schemeClr val="tx1"/>
                </a:solidFill>
              </a:rPr>
              <a:t> valor </a:t>
            </a:r>
            <a:r>
              <a:rPr lang="en-US" sz="1600" dirty="0" err="1">
                <a:solidFill>
                  <a:schemeClr val="tx1"/>
                </a:solidFill>
              </a:rPr>
              <a:t>pela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derivada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função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usada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para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ErroC</a:t>
            </a:r>
            <a:r>
              <a:rPr lang="en-US" sz="1600" dirty="0">
                <a:solidFill>
                  <a:schemeClr val="tx1"/>
                </a:solidFill>
              </a:rPr>
              <a:t> = (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>
                <a:solidFill>
                  <a:schemeClr val="tx1"/>
                </a:solidFill>
              </a:rPr>
              <a:t> .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) .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f’(net)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(</a:t>
            </a:r>
            <a:r>
              <a:rPr lang="en-US" sz="2000" dirty="0">
                <a:solidFill>
                  <a:srgbClr val="C00000"/>
                </a:solidFill>
              </a:rPr>
              <a:t>0,58</a:t>
            </a:r>
            <a:r>
              <a:rPr lang="en-US" sz="2000" dirty="0">
                <a:solidFill>
                  <a:schemeClr val="tx1"/>
                </a:solidFill>
              </a:rPr>
              <a:t> . 1,2)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. 0,5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= 0,348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57" name="Conector em curva 56"/>
          <p:cNvCxnSpPr>
            <a:endCxn id="93" idx="3"/>
          </p:cNvCxnSpPr>
          <p:nvPr/>
        </p:nvCxnSpPr>
        <p:spPr>
          <a:xfrm rot="16200000" flipV="1">
            <a:off x="4765831" y="1091379"/>
            <a:ext cx="830855" cy="3130007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6143636" y="23574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6345157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/>
              <a:t>ErroG</a:t>
            </a:r>
            <a:r>
              <a:rPr lang="en-US" i="1" dirty="0"/>
              <a:t> </a:t>
            </a:r>
            <a:r>
              <a:rPr lang="en-US" b="1" i="1" dirty="0">
                <a:solidFill>
                  <a:schemeClr val="tx1"/>
                </a:solidFill>
              </a:rPr>
              <a:t>= 0,58</a:t>
            </a:r>
          </a:p>
        </p:txBody>
      </p:sp>
      <p:sp>
        <p:nvSpPr>
          <p:cNvPr id="59" name="CaixaDeTexto 58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3688" y="3346911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872591"/>
            <a:ext cx="5072066" cy="29854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5: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soma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Erros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conectados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multiplicados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pelos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respectivos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pesos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Depois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multiplicamos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esse</a:t>
            </a:r>
            <a:r>
              <a:rPr lang="en-US" sz="1600" dirty="0">
                <a:solidFill>
                  <a:schemeClr val="tx1"/>
                </a:solidFill>
              </a:rPr>
              <a:t> valor </a:t>
            </a:r>
            <a:r>
              <a:rPr lang="en-US" sz="1600" dirty="0" err="1">
                <a:solidFill>
                  <a:schemeClr val="tx1"/>
                </a:solidFill>
              </a:rPr>
              <a:t>pela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derivada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função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usada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para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ErroD</a:t>
            </a:r>
            <a:r>
              <a:rPr lang="en-US" sz="1600" dirty="0">
                <a:solidFill>
                  <a:schemeClr val="tx1"/>
                </a:solidFill>
              </a:rPr>
              <a:t> = (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>
                <a:solidFill>
                  <a:schemeClr val="tx1"/>
                </a:solidFill>
              </a:rPr>
              <a:t> .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g,d</a:t>
            </a:r>
            <a:r>
              <a:rPr lang="en-US" sz="1600" dirty="0">
                <a:solidFill>
                  <a:schemeClr val="tx1"/>
                </a:solidFill>
              </a:rPr>
              <a:t>) .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f’(net)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(</a:t>
            </a:r>
            <a:r>
              <a:rPr lang="en-US" sz="2000" dirty="0">
                <a:solidFill>
                  <a:srgbClr val="C00000"/>
                </a:solidFill>
              </a:rPr>
              <a:t>0,58</a:t>
            </a:r>
            <a:r>
              <a:rPr lang="en-US" sz="2000" dirty="0">
                <a:solidFill>
                  <a:schemeClr val="tx1"/>
                </a:solidFill>
              </a:rPr>
              <a:t>. 1,6)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. 0,5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= 0,464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57" name="Conector em curva 56"/>
          <p:cNvCxnSpPr>
            <a:stCxn id="63" idx="0"/>
            <a:endCxn id="94" idx="3"/>
          </p:cNvCxnSpPr>
          <p:nvPr/>
        </p:nvCxnSpPr>
        <p:spPr>
          <a:xfrm rot="16200000" flipV="1">
            <a:off x="5058797" y="1384345"/>
            <a:ext cx="259351" cy="3115579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6215074" y="26431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86512" y="3342936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872591"/>
            <a:ext cx="5072066" cy="29854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5: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soma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Erros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conectados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multiplicados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pelos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respectivos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pesos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Depois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multiplicamos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esse</a:t>
            </a:r>
            <a:r>
              <a:rPr lang="en-US" sz="1600" dirty="0">
                <a:solidFill>
                  <a:schemeClr val="tx1"/>
                </a:solidFill>
              </a:rPr>
              <a:t> valor </a:t>
            </a:r>
            <a:r>
              <a:rPr lang="en-US" sz="1600" dirty="0" err="1">
                <a:solidFill>
                  <a:schemeClr val="tx1"/>
                </a:solidFill>
              </a:rPr>
              <a:t>pela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derivada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função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usada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para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ErroE</a:t>
            </a:r>
            <a:r>
              <a:rPr lang="en-US" sz="1600" dirty="0">
                <a:solidFill>
                  <a:schemeClr val="tx1"/>
                </a:solidFill>
              </a:rPr>
              <a:t> = (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>
                <a:solidFill>
                  <a:schemeClr val="tx1"/>
                </a:solidFill>
              </a:rPr>
              <a:t> .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g,e</a:t>
            </a:r>
            <a:r>
              <a:rPr lang="en-US" sz="1600" dirty="0">
                <a:solidFill>
                  <a:schemeClr val="tx1"/>
                </a:solidFill>
              </a:rPr>
              <a:t>) .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f’(net)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(</a:t>
            </a:r>
            <a:r>
              <a:rPr lang="en-US" sz="2000" dirty="0">
                <a:solidFill>
                  <a:srgbClr val="C00000"/>
                </a:solidFill>
              </a:rPr>
              <a:t>0,58</a:t>
            </a:r>
            <a:r>
              <a:rPr lang="en-US" sz="2000" dirty="0">
                <a:solidFill>
                  <a:schemeClr val="tx1"/>
                </a:solidFill>
              </a:rPr>
              <a:t> . 4,3)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. 0,5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7030A0"/>
                </a:solidFill>
              </a:rPr>
              <a:t>= 1,247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57" name="Conector em curva 56"/>
          <p:cNvCxnSpPr>
            <a:stCxn id="63" idx="2"/>
            <a:endCxn id="95" idx="2"/>
          </p:cNvCxnSpPr>
          <p:nvPr/>
        </p:nvCxnSpPr>
        <p:spPr>
          <a:xfrm rot="5400000">
            <a:off x="4812298" y="1747527"/>
            <a:ext cx="240348" cy="3627579"/>
          </a:xfrm>
          <a:prstGeom prst="curvedConnector3">
            <a:avLst>
              <a:gd name="adj1" fmla="val 19511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4643438" y="3429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  <a:endParaRPr lang="pt-BR" sz="1600" dirty="0">
              <a:solidFill>
                <a:prstClr val="black"/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9429816" cy="5879941"/>
            <a:chOff x="174526" y="120827"/>
            <a:chExt cx="9429816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3389268" cy="2286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60864" y="3373577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872591"/>
            <a:ext cx="5072066" cy="298543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5: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Neurônios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calcular</a:t>
            </a:r>
            <a:r>
              <a:rPr lang="en-US" sz="1600" dirty="0">
                <a:solidFill>
                  <a:schemeClr val="tx1"/>
                </a:solidFill>
              </a:rPr>
              <a:t> o </a:t>
            </a:r>
            <a:r>
              <a:rPr lang="en-US" sz="1600" dirty="0" err="1">
                <a:solidFill>
                  <a:schemeClr val="tx1"/>
                </a:solidFill>
              </a:rPr>
              <a:t>erro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soma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Erros</a:t>
            </a:r>
            <a:r>
              <a:rPr lang="en-US" sz="1600" dirty="0">
                <a:solidFill>
                  <a:schemeClr val="tx1"/>
                </a:solidFill>
              </a:rPr>
              <a:t> dos </a:t>
            </a:r>
            <a:r>
              <a:rPr lang="en-US" sz="1600" dirty="0" err="1">
                <a:solidFill>
                  <a:schemeClr val="tx1"/>
                </a:solidFill>
              </a:rPr>
              <a:t>neurônios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conectados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multiplicados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pelos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respectivos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pesos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Depois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multiplicamos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esse</a:t>
            </a:r>
            <a:r>
              <a:rPr lang="en-US" sz="1600" dirty="0">
                <a:solidFill>
                  <a:schemeClr val="tx1"/>
                </a:solidFill>
              </a:rPr>
              <a:t> valor </a:t>
            </a:r>
            <a:r>
              <a:rPr lang="en-US" sz="1600" dirty="0" err="1">
                <a:solidFill>
                  <a:schemeClr val="tx1"/>
                </a:solidFill>
              </a:rPr>
              <a:t>pela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derivada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função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saída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usada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para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camada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oculta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ErroF</a:t>
            </a:r>
            <a:r>
              <a:rPr lang="en-US" sz="1600" dirty="0">
                <a:solidFill>
                  <a:schemeClr val="tx1"/>
                </a:solidFill>
              </a:rPr>
              <a:t> = (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>
                <a:solidFill>
                  <a:schemeClr val="tx1"/>
                </a:solidFill>
              </a:rPr>
              <a:t> .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g,f</a:t>
            </a:r>
            <a:r>
              <a:rPr lang="en-US" sz="1600" dirty="0">
                <a:solidFill>
                  <a:schemeClr val="tx1"/>
                </a:solidFill>
              </a:rPr>
              <a:t>) .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f’(net)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= (</a:t>
            </a:r>
            <a:r>
              <a:rPr lang="en-US" sz="2000" dirty="0">
                <a:solidFill>
                  <a:srgbClr val="C00000"/>
                </a:solidFill>
              </a:rPr>
              <a:t>0,58</a:t>
            </a:r>
            <a:r>
              <a:rPr lang="en-US" sz="2000" dirty="0">
                <a:solidFill>
                  <a:schemeClr val="tx1"/>
                </a:solidFill>
              </a:rPr>
              <a:t> . 3,2)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. 0,5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= 0,928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cxnSp>
        <p:nvCxnSpPr>
          <p:cNvPr id="57" name="Conector em curva 56"/>
          <p:cNvCxnSpPr>
            <a:stCxn id="63" idx="2"/>
            <a:endCxn id="96" idx="3"/>
          </p:cNvCxnSpPr>
          <p:nvPr/>
        </p:nvCxnSpPr>
        <p:spPr>
          <a:xfrm rot="5400000">
            <a:off x="4871044" y="2170323"/>
            <a:ext cx="604399" cy="3146037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3714744" y="37861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*</a:t>
            </a:r>
            <a:endParaRPr lang="pt-BR" dirty="0">
              <a:solidFill>
                <a:schemeClr val="accent1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428596" y="6000768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1103252" cy="6429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6048" y="3298023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71934" y="3872591"/>
            <a:ext cx="5072066" cy="2893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6: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atualizar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os</a:t>
            </a:r>
            <a:r>
              <a:rPr lang="en-US" sz="1600" dirty="0">
                <a:solidFill>
                  <a:schemeClr val="tx1"/>
                </a:solidFill>
              </a:rPr>
              <a:t> pesos,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definir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, a </a:t>
            </a:r>
            <a:r>
              <a:rPr lang="en-US" sz="1600" dirty="0" err="1">
                <a:solidFill>
                  <a:schemeClr val="tx1"/>
                </a:solidFill>
              </a:rPr>
              <a:t>Taxa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Aprendizado</a:t>
            </a:r>
            <a:r>
              <a:rPr lang="en-US" sz="1600" dirty="0">
                <a:solidFill>
                  <a:schemeClr val="tx1"/>
                </a:solidFill>
              </a:rPr>
              <a:t> (entre 0 e 1). </a:t>
            </a:r>
            <a:r>
              <a:rPr lang="en-US" sz="1600" dirty="0" err="1">
                <a:solidFill>
                  <a:schemeClr val="tx1"/>
                </a:solidFill>
              </a:rPr>
              <a:t>Nesse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considerar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n=1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</a:t>
            </a:r>
            <a:r>
              <a:rPr lang="en-US" sz="1600" dirty="0" err="1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 err="1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iC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 = 1,2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(-0,7) =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0,794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Esse</a:t>
            </a:r>
            <a:r>
              <a:rPr lang="en-US" sz="1600" b="1" dirty="0">
                <a:solidFill>
                  <a:schemeClr val="tx1"/>
                </a:solidFill>
              </a:rPr>
              <a:t> novo valor </a:t>
            </a:r>
            <a:r>
              <a:rPr lang="en-US" sz="1600" b="1" dirty="0" err="1">
                <a:solidFill>
                  <a:schemeClr val="tx1"/>
                </a:solidFill>
              </a:rPr>
              <a:t>deve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substituir</a:t>
            </a:r>
            <a:r>
              <a:rPr lang="en-US" sz="1600" b="1" dirty="0">
                <a:solidFill>
                  <a:schemeClr val="tx1"/>
                </a:solidFill>
              </a:rPr>
              <a:t> o </a:t>
            </a:r>
            <a:r>
              <a:rPr lang="en-US" sz="1600" b="1" dirty="0" err="1">
                <a:solidFill>
                  <a:schemeClr val="tx1"/>
                </a:solidFill>
              </a:rPr>
              <a:t>atual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428596" y="6000768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79" name="Conector em curva 78"/>
          <p:cNvCxnSpPr>
            <a:stCxn id="63" idx="3"/>
          </p:cNvCxnSpPr>
          <p:nvPr/>
        </p:nvCxnSpPr>
        <p:spPr>
          <a:xfrm flipH="1">
            <a:off x="6929456" y="3256476"/>
            <a:ext cx="490868" cy="2458542"/>
          </a:xfrm>
          <a:prstGeom prst="curvedConnector4">
            <a:avLst>
              <a:gd name="adj1" fmla="val -46571"/>
              <a:gd name="adj2" fmla="val 5375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85"/>
          <p:cNvCxnSpPr>
            <a:stCxn id="51" idx="3"/>
          </p:cNvCxnSpPr>
          <p:nvPr/>
        </p:nvCxnSpPr>
        <p:spPr>
          <a:xfrm>
            <a:off x="1786271" y="511055"/>
            <a:ext cx="5500373" cy="5132523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aixaDeTexto 72"/>
          <p:cNvSpPr txBox="1"/>
          <p:nvPr/>
        </p:nvSpPr>
        <p:spPr>
          <a:xfrm>
            <a:off x="4071934" y="3872591"/>
            <a:ext cx="5072066" cy="2893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6: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Para </a:t>
            </a:r>
            <a:r>
              <a:rPr lang="en-US" sz="1600" dirty="0" err="1">
                <a:solidFill>
                  <a:schemeClr val="tx1"/>
                </a:solidFill>
              </a:rPr>
              <a:t>atualizar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os</a:t>
            </a:r>
            <a:r>
              <a:rPr lang="en-US" sz="1600" dirty="0">
                <a:solidFill>
                  <a:schemeClr val="tx1"/>
                </a:solidFill>
              </a:rPr>
              <a:t> pesos, </a:t>
            </a:r>
            <a:r>
              <a:rPr lang="en-US" sz="1600" dirty="0" err="1">
                <a:solidFill>
                  <a:schemeClr val="tx1"/>
                </a:solidFill>
              </a:rPr>
              <a:t>precisamos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definir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, a </a:t>
            </a:r>
            <a:r>
              <a:rPr lang="en-US" sz="1600" dirty="0" err="1">
                <a:solidFill>
                  <a:schemeClr val="tx1"/>
                </a:solidFill>
              </a:rPr>
              <a:t>Taxa</a:t>
            </a:r>
            <a:r>
              <a:rPr lang="en-US" sz="1600" dirty="0">
                <a:solidFill>
                  <a:schemeClr val="tx1"/>
                </a:solidFill>
              </a:rPr>
              <a:t> de </a:t>
            </a:r>
            <a:r>
              <a:rPr lang="en-US" sz="1600" dirty="0" err="1">
                <a:solidFill>
                  <a:schemeClr val="tx1"/>
                </a:solidFill>
              </a:rPr>
              <a:t>Aprendizado</a:t>
            </a:r>
            <a:r>
              <a:rPr lang="en-US" sz="1600" dirty="0">
                <a:solidFill>
                  <a:schemeClr val="tx1"/>
                </a:solidFill>
              </a:rPr>
              <a:t> (entre 0 e 1). </a:t>
            </a:r>
            <a:r>
              <a:rPr lang="en-US" sz="1600" dirty="0" err="1">
                <a:solidFill>
                  <a:schemeClr val="tx1"/>
                </a:solidFill>
              </a:rPr>
              <a:t>Nesse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caso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vamos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considerar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n=1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</a:t>
            </a:r>
            <a:r>
              <a:rPr lang="en-US" sz="1600" dirty="0" err="1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rgbClr val="C00000"/>
                </a:solidFill>
              </a:rPr>
              <a:t>ErroG</a:t>
            </a:r>
            <a:r>
              <a:rPr lang="en-US" sz="1600" dirty="0" err="1">
                <a:solidFill>
                  <a:schemeClr val="tx1"/>
                </a:solidFill>
              </a:rPr>
              <a:t>.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</a:rPr>
              <a:t>iC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 = 1,2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(-0,7) =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0,794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Esse</a:t>
            </a:r>
            <a:r>
              <a:rPr lang="en-US" sz="1600" b="1" dirty="0">
                <a:solidFill>
                  <a:schemeClr val="tx1"/>
                </a:solidFill>
              </a:rPr>
              <a:t> novo valor </a:t>
            </a:r>
            <a:r>
              <a:rPr lang="en-US" sz="1600" b="1" dirty="0" err="1">
                <a:solidFill>
                  <a:schemeClr val="tx1"/>
                </a:solidFill>
              </a:rPr>
              <a:t>deve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substituir</a:t>
            </a:r>
            <a:r>
              <a:rPr lang="en-US" sz="1600" b="1" dirty="0">
                <a:solidFill>
                  <a:schemeClr val="tx1"/>
                </a:solidFill>
              </a:rPr>
              <a:t> o </a:t>
            </a:r>
            <a:r>
              <a:rPr lang="en-US" sz="1600" b="1" dirty="0" err="1">
                <a:solidFill>
                  <a:schemeClr val="tx1"/>
                </a:solidFill>
              </a:rPr>
              <a:t>atual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1103252" cy="64294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404" y="3312685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428596" y="6000768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57" name="Conector em curva 56"/>
          <p:cNvCxnSpPr/>
          <p:nvPr/>
        </p:nvCxnSpPr>
        <p:spPr>
          <a:xfrm rot="10800000">
            <a:off x="3714744" y="2000240"/>
            <a:ext cx="4500594" cy="3714776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/>
          <p:nvPr/>
        </p:nvCxnSpPr>
        <p:spPr>
          <a:xfrm flipV="1">
            <a:off x="3000364" y="2000240"/>
            <a:ext cx="642942" cy="4286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2928926" y="1643050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0,794</a:t>
            </a:r>
            <a:endParaRPr lang="pt-BR" b="1" dirty="0"/>
          </a:p>
        </p:txBody>
      </p:sp>
      <p:sp>
        <p:nvSpPr>
          <p:cNvPr id="74" name="CaixaDeTexto 73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1103252" cy="2357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0047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1,2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0191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1,6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60864" y="3321673"/>
              <a:ext cx="10143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4,3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988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3,2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4036438" y="3872591"/>
            <a:ext cx="5072066" cy="26161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6: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Com </a:t>
            </a:r>
            <a:r>
              <a:rPr lang="en-US" sz="1600" dirty="0" err="1">
                <a:solidFill>
                  <a:schemeClr val="tx1"/>
                </a:solidFill>
              </a:rPr>
              <a:t>isso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teremos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 = 1,2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(-0,7)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0,794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g,d</a:t>
            </a:r>
            <a:r>
              <a:rPr lang="en-US" sz="1600" dirty="0">
                <a:solidFill>
                  <a:schemeClr val="tx1"/>
                </a:solidFill>
              </a:rPr>
              <a:t>= 1,6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(-2,05)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0,411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g,e</a:t>
            </a:r>
            <a:r>
              <a:rPr lang="en-US" sz="1600" dirty="0">
                <a:solidFill>
                  <a:schemeClr val="tx1"/>
                </a:solidFill>
              </a:rPr>
              <a:t> = 4,3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(1,25)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5,025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g,f</a:t>
            </a:r>
            <a:r>
              <a:rPr lang="en-US" sz="1600" dirty="0">
                <a:solidFill>
                  <a:schemeClr val="tx1"/>
                </a:solidFill>
              </a:rPr>
              <a:t> = 3,2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(-0,5)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= 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2,91    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428596" y="6000768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-3500494" y="120827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6215074" y="2000240"/>
              <a:ext cx="1317566" cy="23574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1133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169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0764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g,c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0,794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g,d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0,411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86779" y="3308045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g,e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5,025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g,f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2,91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0</a:t>
              </a:r>
              <a:endParaRPr lang="pt-BR" sz="2400" dirty="0">
                <a:solidFill>
                  <a:srgbClr val="FF0000"/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1</a:t>
              </a:r>
              <a:endParaRPr lang="pt-BR" sz="2400" dirty="0">
                <a:solidFill>
                  <a:schemeClr val="accent1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5000628" y="3093927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4326004" y="3250405"/>
            <a:ext cx="674624" cy="12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6072198" y="307181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285720" y="857232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428596" y="2500306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28596" y="4214818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428596" y="6000768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4036438" y="3872591"/>
            <a:ext cx="5072066" cy="26161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6: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Com </a:t>
            </a:r>
            <a:r>
              <a:rPr lang="en-US" sz="1600" dirty="0" err="1">
                <a:solidFill>
                  <a:schemeClr val="tx1"/>
                </a:solidFill>
              </a:rPr>
              <a:t>isso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teremos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g,c</a:t>
            </a:r>
            <a:r>
              <a:rPr lang="en-US" sz="1600" dirty="0">
                <a:solidFill>
                  <a:schemeClr val="tx1"/>
                </a:solidFill>
              </a:rPr>
              <a:t>  = 1,2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(-0,7)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0,794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g,d</a:t>
            </a:r>
            <a:r>
              <a:rPr lang="en-US" sz="1600" dirty="0">
                <a:solidFill>
                  <a:schemeClr val="tx1"/>
                </a:solidFill>
              </a:rPr>
              <a:t>= 1,6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(-2,05)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0,411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g,e</a:t>
            </a:r>
            <a:r>
              <a:rPr lang="en-US" sz="1600" dirty="0">
                <a:solidFill>
                  <a:schemeClr val="tx1"/>
                </a:solidFill>
              </a:rPr>
              <a:t> = 4,3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(1,25)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=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5,025</a:t>
            </a: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g,f</a:t>
            </a:r>
            <a:r>
              <a:rPr lang="en-US" sz="1600" dirty="0">
                <a:solidFill>
                  <a:schemeClr val="tx1"/>
                </a:solidFill>
              </a:rPr>
              <a:t> = 3,2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rgbClr val="C00000"/>
                </a:solidFill>
              </a:rPr>
              <a:t>0,58.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(-0,5)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</a:rPr>
              <a:t>  =  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2,91    </a:t>
            </a:r>
          </a:p>
        </p:txBody>
      </p:sp>
      <p:sp>
        <p:nvSpPr>
          <p:cNvPr id="57" name="CaixaDeTexto 56"/>
          <p:cNvSpPr txBox="1"/>
          <p:nvPr/>
        </p:nvSpPr>
        <p:spPr>
          <a:xfrm>
            <a:off x="4214810" y="2786058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55"/>
          <p:cNvSpPr/>
          <p:nvPr/>
        </p:nvSpPr>
        <p:spPr>
          <a:xfrm>
            <a:off x="1214414" y="3214686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1746130" y="477993"/>
              <a:ext cx="1174658" cy="522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283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0873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01469" y="3297351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CaixaDeTexto 38"/>
          <p:cNvSpPr txBox="1"/>
          <p:nvPr/>
        </p:nvSpPr>
        <p:spPr>
          <a:xfrm>
            <a:off x="5416817" y="4742305"/>
            <a:ext cx="372042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 </a:t>
            </a:r>
            <a:r>
              <a:rPr lang="en-US" sz="1600" dirty="0" err="1">
                <a:solidFill>
                  <a:schemeClr val="tx1"/>
                </a:solidFill>
              </a:rPr>
              <a:t>processo</a:t>
            </a:r>
            <a:r>
              <a:rPr lang="en-US" sz="1600" dirty="0">
                <a:solidFill>
                  <a:schemeClr val="tx1"/>
                </a:solidFill>
              </a:rPr>
              <a:t> é similar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1746130" y="477993"/>
              <a:ext cx="1174658" cy="522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283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0873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01469" y="3297351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4429124" y="5226784"/>
            <a:ext cx="4714876" cy="16619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 </a:t>
            </a:r>
            <a:r>
              <a:rPr lang="en-US" sz="1600" dirty="0" err="1">
                <a:solidFill>
                  <a:schemeClr val="tx1"/>
                </a:solidFill>
              </a:rPr>
              <a:t>processo</a:t>
            </a:r>
            <a:r>
              <a:rPr lang="en-US" sz="1600" dirty="0">
                <a:solidFill>
                  <a:schemeClr val="tx1"/>
                </a:solidFill>
              </a:rPr>
              <a:t> é similar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c,a</a:t>
            </a:r>
            <a:r>
              <a:rPr lang="en-US" sz="1600" dirty="0">
                <a:solidFill>
                  <a:schemeClr val="tx1"/>
                </a:solidFill>
              </a:rPr>
              <a:t> = 1,1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0,348</a:t>
            </a:r>
            <a:r>
              <a:rPr lang="en-US" sz="1600" dirty="0">
                <a:solidFill>
                  <a:srgbClr val="C00000"/>
                </a:solidFill>
              </a:rPr>
              <a:t>.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0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= 1,1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634437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1397078" y="3423015"/>
              <a:ext cx="1174658" cy="522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283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0873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01469" y="3297351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4429124" y="5226784"/>
            <a:ext cx="4714876" cy="16619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 </a:t>
            </a:r>
            <a:r>
              <a:rPr lang="en-US" sz="1600" dirty="0" err="1">
                <a:solidFill>
                  <a:schemeClr val="tx1"/>
                </a:solidFill>
              </a:rPr>
              <a:t>processo</a:t>
            </a:r>
            <a:r>
              <a:rPr lang="en-US" sz="1600" dirty="0">
                <a:solidFill>
                  <a:schemeClr val="tx1"/>
                </a:solidFill>
              </a:rPr>
              <a:t> é similar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b="1" dirty="0">
              <a:solidFill>
                <a:srgbClr val="C00000"/>
              </a:solidFill>
            </a:endParaRP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= -1,4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0,348</a:t>
            </a:r>
            <a:r>
              <a:rPr lang="en-US" sz="1600" dirty="0">
                <a:solidFill>
                  <a:srgbClr val="C00000"/>
                </a:solidFill>
              </a:rPr>
              <a:t>.1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rgbClr val="C00000"/>
                </a:solidFill>
              </a:rPr>
              <a:t>= </a:t>
            </a:r>
            <a:r>
              <a:rPr lang="en-US" sz="1600" b="1" dirty="0">
                <a:solidFill>
                  <a:srgbClr val="C00000"/>
                </a:solidFill>
              </a:rPr>
              <a:t>-1,052</a:t>
            </a:r>
          </a:p>
        </p:txBody>
      </p:sp>
      <p:sp>
        <p:nvSpPr>
          <p:cNvPr id="56" name="CaixaDeTexto 55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545908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55" name="Retângulo 54"/>
            <p:cNvSpPr/>
            <p:nvPr/>
          </p:nvSpPr>
          <p:spPr>
            <a:xfrm>
              <a:off x="1397078" y="3423015"/>
              <a:ext cx="1174658" cy="5221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c,a</a:t>
              </a:r>
              <a:r>
                <a:rPr lang="en-US" sz="1600" baseline="-25000" dirty="0"/>
                <a:t> </a:t>
              </a:r>
              <a:r>
                <a:rPr lang="en-US" sz="1600" dirty="0"/>
                <a:t> = 1,1</a:t>
              </a:r>
              <a:endParaRPr lang="pt-BR" baseline="-25000" dirty="0"/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283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dirty="0"/>
                <a:t> 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428979" y="3500438"/>
              <a:ext cx="10873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c,b</a:t>
              </a:r>
              <a:r>
                <a:rPr lang="en-US" sz="1600" dirty="0"/>
                <a:t>  = -1,4</a:t>
              </a:r>
              <a:endParaRPr lang="pt-BR" sz="1600" dirty="0"/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01469" y="3297351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4429124" y="5226784"/>
            <a:ext cx="4714876" cy="16619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 </a:t>
            </a:r>
            <a:r>
              <a:rPr lang="en-US" sz="1600" dirty="0" err="1">
                <a:solidFill>
                  <a:schemeClr val="tx1"/>
                </a:solidFill>
              </a:rPr>
              <a:t>processo</a:t>
            </a:r>
            <a:r>
              <a:rPr lang="en-US" sz="1600" dirty="0">
                <a:solidFill>
                  <a:schemeClr val="tx1"/>
                </a:solidFill>
              </a:rPr>
              <a:t> é similar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b="1" dirty="0">
              <a:solidFill>
                <a:srgbClr val="C00000"/>
              </a:solidFill>
            </a:endParaRPr>
          </a:p>
          <a:p>
            <a:pPr algn="ctr"/>
            <a:endParaRPr lang="en-US" sz="16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c,b</a:t>
            </a:r>
            <a:r>
              <a:rPr lang="en-US" sz="1600" dirty="0">
                <a:solidFill>
                  <a:schemeClr val="tx1"/>
                </a:solidFill>
              </a:rPr>
              <a:t> = -1,4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1.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0,348</a:t>
            </a:r>
            <a:r>
              <a:rPr lang="en-US" sz="1600" dirty="0">
                <a:solidFill>
                  <a:srgbClr val="C00000"/>
                </a:solidFill>
              </a:rPr>
              <a:t>.1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600" dirty="0">
                <a:solidFill>
                  <a:srgbClr val="C00000"/>
                </a:solidFill>
              </a:rPr>
              <a:t>= </a:t>
            </a:r>
            <a:r>
              <a:rPr lang="en-US" sz="1600" b="1" dirty="0">
                <a:solidFill>
                  <a:srgbClr val="C00000"/>
                </a:solidFill>
              </a:rPr>
              <a:t>-1,052</a:t>
            </a:r>
          </a:p>
        </p:txBody>
      </p:sp>
      <p:cxnSp>
        <p:nvCxnSpPr>
          <p:cNvPr id="56" name="Forma 57"/>
          <p:cNvCxnSpPr/>
          <p:nvPr/>
        </p:nvCxnSpPr>
        <p:spPr>
          <a:xfrm rot="10800000">
            <a:off x="1801744" y="3808240"/>
            <a:ext cx="6342157" cy="276403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/>
          <p:nvPr/>
        </p:nvCxnSpPr>
        <p:spPr>
          <a:xfrm rot="16200000" flipH="1">
            <a:off x="1928794" y="3286124"/>
            <a:ext cx="428628" cy="42862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CaixaDeTexto 64"/>
          <p:cNvSpPr txBox="1"/>
          <p:nvPr/>
        </p:nvSpPr>
        <p:spPr>
          <a:xfrm>
            <a:off x="1011635" y="2928934"/>
            <a:ext cx="98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-1,052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23093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baseline="-25000" dirty="0"/>
                <a:t> </a:t>
              </a:r>
              <a:r>
                <a:rPr lang="en-US" sz="1600" dirty="0"/>
                <a:t>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979712" y="1124744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907704" y="3791158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d,a</a:t>
              </a:r>
              <a:r>
                <a:rPr lang="en-US" sz="1600" baseline="-25000" dirty="0"/>
                <a:t> </a:t>
              </a:r>
              <a:r>
                <a:rPr lang="en-US" sz="1600" dirty="0"/>
                <a:t> = 3,6</a:t>
              </a:r>
              <a:endParaRPr lang="pt-BR" baseline="-25000" dirty="0"/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baseline="-25000" dirty="0"/>
                <a:t> </a:t>
              </a:r>
              <a:r>
                <a:rPr lang="en-US" sz="1600" dirty="0"/>
                <a:t>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055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d,b</a:t>
              </a:r>
              <a:r>
                <a:rPr lang="en-US" sz="1600" dirty="0"/>
                <a:t> = -4,1</a:t>
              </a:r>
              <a:endParaRPr lang="pt-BR" baseline="-25000" dirty="0"/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3,6 + 1.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0,464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3,6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-4,1 + 1.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0,464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-3,636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6952059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979712" y="1124744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907704" y="3791158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0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baseline="-25000" dirty="0"/>
                <a:t> </a:t>
              </a:r>
              <a:r>
                <a:rPr lang="en-US" sz="1600" dirty="0"/>
                <a:t>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1" name="CaixaDeTexto 60"/>
          <p:cNvSpPr txBox="1"/>
          <p:nvPr/>
        </p:nvSpPr>
        <p:spPr>
          <a:xfrm>
            <a:off x="7715304" y="2665231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-0,69</a:t>
            </a:r>
            <a:endParaRPr lang="pt-BR" sz="1400" dirty="0"/>
          </a:p>
        </p:txBody>
      </p: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129578"/>
            <a:ext cx="281641" cy="400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3,6 + 1.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0,464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3,6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d,b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-4,1 + 1.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0,464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-3,636</a:t>
            </a:r>
          </a:p>
        </p:txBody>
      </p:sp>
    </p:spTree>
    <p:extLst>
      <p:ext uri="{BB962C8B-B14F-4D97-AF65-F5344CB8AC3E}">
        <p14:creationId xmlns:p14="http://schemas.microsoft.com/office/powerpoint/2010/main" val="18106678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780246" y="1623935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652656" y="4359839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-63375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e,a</a:t>
              </a:r>
              <a:r>
                <a:rPr lang="en-US" sz="1600" baseline="-25000" dirty="0"/>
                <a:t> </a:t>
              </a:r>
              <a:r>
                <a:rPr lang="en-US" sz="1600" dirty="0"/>
                <a:t> = 2,1</a:t>
              </a:r>
              <a:endParaRPr lang="pt-BR" sz="1600" dirty="0"/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98828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e,b</a:t>
              </a:r>
              <a:r>
                <a:rPr lang="en-US" sz="1600" dirty="0"/>
                <a:t> = 2,5</a:t>
              </a:r>
              <a:endParaRPr lang="pt-BR" sz="1600" dirty="0"/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066203"/>
            <a:ext cx="281641" cy="103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2,1 + 1.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1,247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2,1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2,5 + 1.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1,247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3,747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60531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780246" y="1623935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763688" y="4359839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-63375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2,1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196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e,b</a:t>
              </a:r>
              <a:r>
                <a:rPr lang="en-US" sz="1600" dirty="0">
                  <a:solidFill>
                    <a:srgbClr val="FF0000"/>
                  </a:solidFill>
                </a:rPr>
                <a:t> = 3,747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066203"/>
            <a:ext cx="281641" cy="103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2,1 + 1.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1,247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2,1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e,b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2,5 + 1.</a:t>
            </a: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1,247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3,747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693284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186615" y="2175126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329709" y="4956018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-63375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2,1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f,a</a:t>
              </a:r>
              <a:r>
                <a:rPr lang="en-US" sz="1600" baseline="-25000" dirty="0"/>
                <a:t> </a:t>
              </a:r>
              <a:r>
                <a:rPr lang="en-US" sz="1600" dirty="0"/>
                <a:t> = 0,9</a:t>
              </a:r>
              <a:endParaRPr lang="pt-BR" baseline="-25000" dirty="0"/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196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e,b</a:t>
              </a:r>
              <a:r>
                <a:rPr lang="en-US" sz="1600" dirty="0">
                  <a:solidFill>
                    <a:srgbClr val="FF0000"/>
                  </a:solidFill>
                </a:rPr>
                <a:t> = 3,747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0547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f,b</a:t>
              </a:r>
              <a:r>
                <a:rPr lang="en-US" sz="1600" baseline="-25000" dirty="0"/>
                <a:t> </a:t>
              </a:r>
              <a:r>
                <a:rPr lang="en-US" sz="1600" dirty="0"/>
                <a:t> = -1,0</a:t>
              </a:r>
              <a:endParaRPr lang="pt-BR" baseline="-25000" dirty="0"/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066203"/>
            <a:ext cx="281641" cy="103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0,9 + 1.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0,928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0,9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-1,0 + 1.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0,928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-0,072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483659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186615" y="2175126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404041" y="4984093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-63375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2,1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0,9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196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e,b</a:t>
              </a:r>
              <a:r>
                <a:rPr lang="en-US" sz="1600" dirty="0">
                  <a:solidFill>
                    <a:srgbClr val="FF0000"/>
                  </a:solidFill>
                </a:rPr>
                <a:t> = 3,747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263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f,b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-0,072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066203"/>
            <a:ext cx="281641" cy="103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5286380" y="4500570"/>
            <a:ext cx="3929058" cy="221599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Parte 7: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pesos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camada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oculta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 err="1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600" dirty="0" err="1">
                <a:solidFill>
                  <a:srgbClr val="C00000"/>
                </a:solidFill>
              </a:rPr>
              <a:t>.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EntradaA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f,a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0,9 + 1.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0,928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0 = 0,9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dirty="0">
                <a:solidFill>
                  <a:schemeClr val="tx1"/>
                </a:solidFill>
              </a:rPr>
              <a:t> +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n.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600" dirty="0" err="1">
                <a:solidFill>
                  <a:srgbClr val="C00000"/>
                </a:solidFill>
              </a:rPr>
              <a:t>.EntradaB</a:t>
            </a:r>
            <a:endParaRPr lang="en-US" sz="1600" dirty="0">
              <a:solidFill>
                <a:srgbClr val="C00000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Novopeso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w</a:t>
            </a:r>
            <a:r>
              <a:rPr lang="en-US" sz="1600" baseline="-25000" dirty="0" err="1">
                <a:solidFill>
                  <a:schemeClr val="tx1"/>
                </a:solidFill>
              </a:rPr>
              <a:t>f,b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= -1,0 + 1.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0,928</a:t>
            </a:r>
            <a:r>
              <a:rPr lang="en-US" sz="1600" b="1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rgbClr val="C00000"/>
                </a:solidFill>
              </a:rPr>
              <a:t>1 = -0,072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560602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/>
          <p:cNvSpPr/>
          <p:nvPr/>
        </p:nvSpPr>
        <p:spPr>
          <a:xfrm>
            <a:off x="1186615" y="2175126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/>
          <p:cNvSpPr/>
          <p:nvPr/>
        </p:nvSpPr>
        <p:spPr>
          <a:xfrm>
            <a:off x="1404041" y="4984093"/>
            <a:ext cx="1174658" cy="5221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CaixaDeTexto 97"/>
          <p:cNvSpPr txBox="1"/>
          <p:nvPr/>
        </p:nvSpPr>
        <p:spPr>
          <a:xfrm>
            <a:off x="6286512" y="0"/>
            <a:ext cx="2857488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MLP</a:t>
            </a:r>
          </a:p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Execução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1400" dirty="0" err="1"/>
              <a:t>Considere</a:t>
            </a:r>
            <a:r>
              <a:rPr lang="en-US" sz="1400" dirty="0"/>
              <a:t> as </a:t>
            </a:r>
            <a:r>
              <a:rPr lang="en-US" sz="1400" dirty="0" err="1"/>
              <a:t>Entradas</a:t>
            </a:r>
            <a:endParaRPr lang="en-US" sz="1400" dirty="0"/>
          </a:p>
          <a:p>
            <a:pPr algn="ctr"/>
            <a:r>
              <a:rPr lang="en-US" sz="1400" dirty="0"/>
              <a:t>A=0 e B=1</a:t>
            </a:r>
          </a:p>
          <a:p>
            <a:pPr lvl="0" algn="ctr"/>
            <a:r>
              <a:rPr lang="en-US" sz="1600" dirty="0" err="1">
                <a:solidFill>
                  <a:prstClr val="black"/>
                </a:solidFill>
              </a:rPr>
              <a:t>Saída</a:t>
            </a:r>
            <a:r>
              <a:rPr lang="en-US" sz="1600" dirty="0">
                <a:solidFill>
                  <a:prstClr val="black"/>
                </a:solidFill>
              </a:rPr>
              <a:t> </a:t>
            </a:r>
            <a:r>
              <a:rPr lang="en-US" sz="1600" dirty="0" err="1">
                <a:solidFill>
                  <a:prstClr val="black"/>
                </a:solidFill>
              </a:rPr>
              <a:t>desejada</a:t>
            </a:r>
            <a:r>
              <a:rPr lang="en-US" sz="1600" dirty="0">
                <a:solidFill>
                  <a:prstClr val="black"/>
                </a:solidFill>
              </a:rPr>
              <a:t> = 1</a:t>
            </a:r>
          </a:p>
          <a:p>
            <a:pPr lvl="0" algn="ctr"/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Taxa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</a:rPr>
              <a:t>Aprendizado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</a:rPr>
              <a:t> n=1</a:t>
            </a:r>
            <a:endParaRPr lang="pt-BR" sz="2000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2" name="Grupo 45"/>
          <p:cNvGrpSpPr/>
          <p:nvPr/>
        </p:nvGrpSpPr>
        <p:grpSpPr>
          <a:xfrm>
            <a:off x="0" y="-63375"/>
            <a:ext cx="7826498" cy="5879941"/>
            <a:chOff x="174526" y="120827"/>
            <a:chExt cx="7826498" cy="5879941"/>
          </a:xfrm>
        </p:grpSpPr>
        <p:sp>
          <p:nvSpPr>
            <p:cNvPr id="4" name="Elipse 3"/>
            <p:cNvSpPr/>
            <p:nvPr/>
          </p:nvSpPr>
          <p:spPr>
            <a:xfrm>
              <a:off x="571472" y="1142984"/>
              <a:ext cx="571504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pt-BR" dirty="0"/>
            </a:p>
          </p:txBody>
        </p:sp>
        <p:sp>
          <p:nvSpPr>
            <p:cNvPr id="5" name="Elipse 4"/>
            <p:cNvSpPr/>
            <p:nvPr/>
          </p:nvSpPr>
          <p:spPr>
            <a:xfrm>
              <a:off x="571472" y="4643446"/>
              <a:ext cx="571504" cy="50006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pt-BR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4143372" y="357166"/>
              <a:ext cx="571504" cy="50006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pt-BR" dirty="0"/>
            </a:p>
          </p:txBody>
        </p:sp>
        <p:sp>
          <p:nvSpPr>
            <p:cNvPr id="7" name="Elipse 6"/>
            <p:cNvSpPr/>
            <p:nvPr/>
          </p:nvSpPr>
          <p:spPr>
            <a:xfrm>
              <a:off x="4214810" y="1928802"/>
              <a:ext cx="571504" cy="500066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pt-BR" dirty="0"/>
            </a:p>
          </p:txBody>
        </p:sp>
        <p:sp>
          <p:nvSpPr>
            <p:cNvPr id="8" name="Elipse 7"/>
            <p:cNvSpPr/>
            <p:nvPr/>
          </p:nvSpPr>
          <p:spPr>
            <a:xfrm>
              <a:off x="4214810" y="3643314"/>
              <a:ext cx="571504" cy="50006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  <a:endParaRPr lang="pt-BR" dirty="0"/>
            </a:p>
          </p:txBody>
        </p:sp>
        <p:sp>
          <p:nvSpPr>
            <p:cNvPr id="9" name="Elipse 8"/>
            <p:cNvSpPr/>
            <p:nvPr/>
          </p:nvSpPr>
          <p:spPr>
            <a:xfrm>
              <a:off x="4214810" y="5500702"/>
              <a:ext cx="571504" cy="500066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  <a:endParaRPr lang="pt-BR" dirty="0"/>
            </a:p>
          </p:txBody>
        </p:sp>
        <p:sp>
          <p:nvSpPr>
            <p:cNvPr id="10" name="Elipse 9"/>
            <p:cNvSpPr/>
            <p:nvPr/>
          </p:nvSpPr>
          <p:spPr>
            <a:xfrm>
              <a:off x="7429520" y="3000372"/>
              <a:ext cx="571504" cy="500066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  <a:endParaRPr lang="pt-BR" dirty="0"/>
            </a:p>
          </p:txBody>
        </p:sp>
        <p:cxnSp>
          <p:nvCxnSpPr>
            <p:cNvPr id="13" name="Conector de seta reta 12"/>
            <p:cNvCxnSpPr>
              <a:stCxn id="4" idx="6"/>
              <a:endCxn id="6" idx="2"/>
            </p:cNvCxnSpPr>
            <p:nvPr/>
          </p:nvCxnSpPr>
          <p:spPr>
            <a:xfrm flipV="1">
              <a:off x="1142976" y="607199"/>
              <a:ext cx="3000396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>
              <a:stCxn id="4" idx="6"/>
              <a:endCxn id="7" idx="2"/>
            </p:cNvCxnSpPr>
            <p:nvPr/>
          </p:nvCxnSpPr>
          <p:spPr>
            <a:xfrm>
              <a:off x="1142976" y="1393017"/>
              <a:ext cx="3071834" cy="785818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/>
            <p:cNvCxnSpPr>
              <a:stCxn id="4" idx="6"/>
              <a:endCxn id="8" idx="2"/>
            </p:cNvCxnSpPr>
            <p:nvPr/>
          </p:nvCxnSpPr>
          <p:spPr>
            <a:xfrm>
              <a:off x="1142976" y="1393017"/>
              <a:ext cx="3071834" cy="25003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>
              <a:stCxn id="4" idx="6"/>
              <a:endCxn id="9" idx="1"/>
            </p:cNvCxnSpPr>
            <p:nvPr/>
          </p:nvCxnSpPr>
          <p:spPr>
            <a:xfrm>
              <a:off x="1142976" y="1393017"/>
              <a:ext cx="3155529" cy="418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/>
            <p:cNvCxnSpPr>
              <a:stCxn id="5" idx="6"/>
              <a:endCxn id="6" idx="3"/>
            </p:cNvCxnSpPr>
            <p:nvPr/>
          </p:nvCxnSpPr>
          <p:spPr>
            <a:xfrm flipV="1">
              <a:off x="1142976" y="783999"/>
              <a:ext cx="3084091" cy="410948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Conector de seta reta 30"/>
            <p:cNvCxnSpPr>
              <a:stCxn id="5" idx="6"/>
              <a:endCxn id="7" idx="3"/>
            </p:cNvCxnSpPr>
            <p:nvPr/>
          </p:nvCxnSpPr>
          <p:spPr>
            <a:xfrm flipV="1">
              <a:off x="1142976" y="2355635"/>
              <a:ext cx="3155529" cy="2537844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Conector de seta reta 32"/>
            <p:cNvCxnSpPr>
              <a:stCxn id="5" idx="6"/>
              <a:endCxn id="8" idx="3"/>
            </p:cNvCxnSpPr>
            <p:nvPr/>
          </p:nvCxnSpPr>
          <p:spPr>
            <a:xfrm flipV="1">
              <a:off x="1142976" y="4070147"/>
              <a:ext cx="3155529" cy="82333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Conector de seta reta 34"/>
            <p:cNvCxnSpPr>
              <a:stCxn id="5" idx="6"/>
              <a:endCxn id="9" idx="2"/>
            </p:cNvCxnSpPr>
            <p:nvPr/>
          </p:nvCxnSpPr>
          <p:spPr>
            <a:xfrm>
              <a:off x="1142976" y="4893479"/>
              <a:ext cx="3071834" cy="857256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6" idx="6"/>
              <a:endCxn id="10" idx="0"/>
            </p:cNvCxnSpPr>
            <p:nvPr/>
          </p:nvCxnSpPr>
          <p:spPr>
            <a:xfrm>
              <a:off x="4714876" y="607199"/>
              <a:ext cx="3000396" cy="2393173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Conector de seta reta 39"/>
            <p:cNvCxnSpPr>
              <a:stCxn id="7" idx="6"/>
              <a:endCxn id="10" idx="1"/>
            </p:cNvCxnSpPr>
            <p:nvPr/>
          </p:nvCxnSpPr>
          <p:spPr>
            <a:xfrm>
              <a:off x="4786314" y="2178835"/>
              <a:ext cx="2726901" cy="89477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Conector de seta reta 41"/>
            <p:cNvCxnSpPr>
              <a:stCxn id="8" idx="6"/>
              <a:endCxn id="10" idx="2"/>
            </p:cNvCxnSpPr>
            <p:nvPr/>
          </p:nvCxnSpPr>
          <p:spPr>
            <a:xfrm flipV="1">
              <a:off x="4786314" y="3250405"/>
              <a:ext cx="2643206" cy="642942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4" name="Conector de seta reta 43"/>
            <p:cNvCxnSpPr>
              <a:stCxn id="9" idx="6"/>
              <a:endCxn id="10" idx="3"/>
            </p:cNvCxnSpPr>
            <p:nvPr/>
          </p:nvCxnSpPr>
          <p:spPr>
            <a:xfrm flipV="1">
              <a:off x="4786314" y="3427205"/>
              <a:ext cx="2726901" cy="2323530"/>
            </a:xfrm>
            <a:prstGeom prst="straightConnector1">
              <a:avLst/>
            </a:prstGeom>
            <a:ln w="3175">
              <a:tailEnd type="arrow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69" name="CaixaDeTexto 68"/>
            <p:cNvSpPr txBox="1"/>
            <p:nvPr/>
          </p:nvSpPr>
          <p:spPr>
            <a:xfrm>
              <a:off x="1857356" y="571480"/>
              <a:ext cx="101040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1,1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0" name="CaixaDeTexto 69"/>
            <p:cNvSpPr txBox="1"/>
            <p:nvPr/>
          </p:nvSpPr>
          <p:spPr>
            <a:xfrm>
              <a:off x="2143108" y="1357298"/>
              <a:ext cx="101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3,6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71" name="CaixaDeTexto 70"/>
            <p:cNvSpPr txBox="1"/>
            <p:nvPr/>
          </p:nvSpPr>
          <p:spPr>
            <a:xfrm>
              <a:off x="1928794" y="1857364"/>
              <a:ext cx="10123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2,1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72" name="CaixaDeTexto 71"/>
            <p:cNvSpPr txBox="1"/>
            <p:nvPr/>
          </p:nvSpPr>
          <p:spPr>
            <a:xfrm>
              <a:off x="1428728" y="2500306"/>
              <a:ext cx="9857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f,a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0,9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1507116" y="3500438"/>
              <a:ext cx="12957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c,b</a:t>
              </a:r>
              <a:r>
                <a:rPr lang="en-US" sz="1600" dirty="0">
                  <a:solidFill>
                    <a:srgbClr val="FF0000"/>
                  </a:solidFill>
                </a:rPr>
                <a:t>  = -1,052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0" name="CaixaDeTexto 89"/>
            <p:cNvSpPr txBox="1"/>
            <p:nvPr/>
          </p:nvSpPr>
          <p:spPr>
            <a:xfrm>
              <a:off x="2071670" y="4000504"/>
              <a:ext cx="12642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d,b</a:t>
              </a:r>
              <a:r>
                <a:rPr lang="en-US" sz="1600" dirty="0">
                  <a:solidFill>
                    <a:srgbClr val="FF0000"/>
                  </a:solidFill>
                </a:rPr>
                <a:t> = -3,636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1" name="CaixaDeTexto 90"/>
            <p:cNvSpPr txBox="1"/>
            <p:nvPr/>
          </p:nvSpPr>
          <p:spPr>
            <a:xfrm>
              <a:off x="1928794" y="4572008"/>
              <a:ext cx="11966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e,b</a:t>
              </a:r>
              <a:r>
                <a:rPr lang="en-US" sz="1600" dirty="0">
                  <a:solidFill>
                    <a:srgbClr val="FF0000"/>
                  </a:solidFill>
                </a:rPr>
                <a:t> = 3,747</a:t>
              </a:r>
              <a:endParaRPr lang="pt-BR" sz="1600" dirty="0">
                <a:solidFill>
                  <a:srgbClr val="FF0000"/>
                </a:solidFill>
              </a:endParaRPr>
            </a:p>
          </p:txBody>
        </p:sp>
        <p:sp>
          <p:nvSpPr>
            <p:cNvPr id="92" name="CaixaDeTexto 91"/>
            <p:cNvSpPr txBox="1"/>
            <p:nvPr/>
          </p:nvSpPr>
          <p:spPr>
            <a:xfrm>
              <a:off x="1571604" y="5233586"/>
              <a:ext cx="12631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W</a:t>
              </a:r>
              <a:r>
                <a:rPr lang="en-US" sz="1600" baseline="-25000" dirty="0" err="1">
                  <a:solidFill>
                    <a:srgbClr val="FF0000"/>
                  </a:solidFill>
                </a:rPr>
                <a:t>f,b</a:t>
              </a:r>
              <a:r>
                <a:rPr lang="en-US" sz="1600" baseline="-25000" dirty="0">
                  <a:solidFill>
                    <a:srgbClr val="FF0000"/>
                  </a:solidFill>
                </a:rPr>
                <a:t> </a:t>
              </a:r>
              <a:r>
                <a:rPr lang="en-US" sz="1600" dirty="0">
                  <a:solidFill>
                    <a:srgbClr val="FF0000"/>
                  </a:solidFill>
                </a:rPr>
                <a:t> = -0,072</a:t>
              </a:r>
              <a:endParaRPr lang="pt-BR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93" name="CaixaDeTexto 92"/>
            <p:cNvSpPr txBox="1"/>
            <p:nvPr/>
          </p:nvSpPr>
          <p:spPr>
            <a:xfrm>
              <a:off x="6286512" y="2071678"/>
              <a:ext cx="12131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g,c</a:t>
              </a:r>
              <a:r>
                <a:rPr lang="en-US" sz="1600" baseline="-25000" dirty="0"/>
                <a:t> </a:t>
              </a:r>
              <a:r>
                <a:rPr lang="en-US" sz="1600" dirty="0"/>
                <a:t> = 0,794</a:t>
              </a:r>
              <a:endParaRPr lang="pt-BR" baseline="-25000" dirty="0"/>
            </a:p>
          </p:txBody>
        </p:sp>
        <p:sp>
          <p:nvSpPr>
            <p:cNvPr id="94" name="CaixaDeTexto 93"/>
            <p:cNvSpPr txBox="1"/>
            <p:nvPr/>
          </p:nvSpPr>
          <p:spPr>
            <a:xfrm>
              <a:off x="6286512" y="2643182"/>
              <a:ext cx="12275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g,d</a:t>
              </a:r>
              <a:r>
                <a:rPr lang="en-US" sz="1600" baseline="-25000" dirty="0"/>
                <a:t> </a:t>
              </a:r>
              <a:r>
                <a:rPr lang="en-US" sz="1600" dirty="0"/>
                <a:t> = 0,411</a:t>
              </a:r>
              <a:endParaRPr lang="pt-BR" baseline="-25000" dirty="0"/>
            </a:p>
          </p:txBody>
        </p:sp>
        <p:sp>
          <p:nvSpPr>
            <p:cNvPr id="95" name="CaixaDeTexto 94"/>
            <p:cNvSpPr txBox="1"/>
            <p:nvPr/>
          </p:nvSpPr>
          <p:spPr>
            <a:xfrm>
              <a:off x="6274316" y="3071810"/>
              <a:ext cx="12227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g,e</a:t>
              </a:r>
              <a:r>
                <a:rPr lang="en-US" sz="1600" baseline="-25000" dirty="0"/>
                <a:t> </a:t>
              </a:r>
              <a:r>
                <a:rPr lang="en-US" sz="1600" dirty="0"/>
                <a:t> = 5,025</a:t>
              </a:r>
              <a:endParaRPr lang="pt-BR" baseline="-25000" dirty="0"/>
            </a:p>
          </p:txBody>
        </p:sp>
        <p:sp>
          <p:nvSpPr>
            <p:cNvPr id="96" name="CaixaDeTexto 95"/>
            <p:cNvSpPr txBox="1"/>
            <p:nvPr/>
          </p:nvSpPr>
          <p:spPr>
            <a:xfrm>
              <a:off x="6286512" y="3876264"/>
              <a:ext cx="10929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W</a:t>
              </a:r>
              <a:r>
                <a:rPr lang="en-US" sz="1600" baseline="-25000" dirty="0" err="1"/>
                <a:t>g,f</a:t>
              </a:r>
              <a:r>
                <a:rPr lang="en-US" sz="1600" baseline="-25000" dirty="0"/>
                <a:t> </a:t>
              </a:r>
              <a:r>
                <a:rPr lang="en-US" sz="1600" dirty="0"/>
                <a:t> = 2,91</a:t>
              </a:r>
              <a:endParaRPr lang="pt-BR" baseline="-25000" dirty="0"/>
            </a:p>
          </p:txBody>
        </p:sp>
        <p:sp>
          <p:nvSpPr>
            <p:cNvPr id="36" name="CaixaDeTexto 35"/>
            <p:cNvSpPr txBox="1"/>
            <p:nvPr/>
          </p:nvSpPr>
          <p:spPr>
            <a:xfrm>
              <a:off x="214282" y="114298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</a:rPr>
                <a:t>0</a:t>
              </a:r>
              <a:endParaRPr lang="pt-BR" sz="2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174526" y="4643446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1</a:t>
              </a:r>
              <a:endParaRPr lang="pt-BR" sz="2400" dirty="0">
                <a:solidFill>
                  <a:srgbClr val="C00000"/>
                </a:solidFill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3929058" y="120827"/>
              <a:ext cx="9771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netC</a:t>
              </a:r>
              <a:r>
                <a:rPr lang="en-US" sz="1400" dirty="0"/>
                <a:t> = -1,4</a:t>
              </a:r>
              <a:endParaRPr lang="pt-BR" sz="1400" dirty="0"/>
            </a:p>
          </p:txBody>
        </p:sp>
        <p:sp>
          <p:nvSpPr>
            <p:cNvPr id="51" name="CaixaDeTexto 50"/>
            <p:cNvSpPr txBox="1"/>
            <p:nvPr/>
          </p:nvSpPr>
          <p:spPr>
            <a:xfrm>
              <a:off x="4643438" y="357166"/>
              <a:ext cx="8178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6">
                      <a:lumMod val="75000"/>
                    </a:schemeClr>
                  </a:solidFill>
                </a:rPr>
                <a:t>iC</a:t>
              </a:r>
              <a:r>
                <a:rPr lang="en-US" sz="1400" b="1" dirty="0">
                  <a:solidFill>
                    <a:schemeClr val="accent6">
                      <a:lumMod val="75000"/>
                    </a:schemeClr>
                  </a:solidFill>
                </a:rPr>
                <a:t> = -0,7</a:t>
              </a:r>
              <a:endParaRPr lang="pt-BR" sz="1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3929058" y="1643050"/>
              <a:ext cx="9916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netD</a:t>
              </a:r>
              <a:r>
                <a:rPr lang="en-US" sz="1400" dirty="0"/>
                <a:t> = -4,1</a:t>
              </a:r>
              <a:endParaRPr lang="pt-BR" sz="1400" dirty="0"/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786314" y="1928802"/>
              <a:ext cx="9284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3">
                      <a:lumMod val="75000"/>
                    </a:schemeClr>
                  </a:solidFill>
                </a:rPr>
                <a:t>iD</a:t>
              </a:r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= -2,05</a:t>
              </a:r>
              <a:endParaRPr lang="pt-BR" sz="14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4000496" y="3357562"/>
              <a:ext cx="914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netE</a:t>
              </a:r>
              <a:r>
                <a:rPr lang="en-US" sz="1400" dirty="0"/>
                <a:t> = 2,5</a:t>
              </a:r>
              <a:endParaRPr lang="pt-BR" sz="1400" dirty="0"/>
            </a:p>
          </p:txBody>
        </p:sp>
        <p:sp>
          <p:nvSpPr>
            <p:cNvPr id="52" name="CaixaDeTexto 51"/>
            <p:cNvSpPr txBox="1"/>
            <p:nvPr/>
          </p:nvSpPr>
          <p:spPr>
            <a:xfrm>
              <a:off x="4786314" y="3857628"/>
              <a:ext cx="8483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4">
                      <a:lumMod val="75000"/>
                    </a:schemeClr>
                  </a:solidFill>
                </a:rPr>
                <a:t>iE</a:t>
              </a:r>
              <a:r>
                <a:rPr lang="en-US" sz="1400" b="1" dirty="0">
                  <a:solidFill>
                    <a:schemeClr val="accent4">
                      <a:lumMod val="75000"/>
                    </a:schemeClr>
                  </a:solidFill>
                </a:rPr>
                <a:t> = 1,25</a:t>
              </a:r>
              <a:endParaRPr lang="pt-BR" sz="14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4214810" y="5143512"/>
              <a:ext cx="9627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netF</a:t>
              </a:r>
              <a:r>
                <a:rPr lang="en-US" sz="1400" dirty="0"/>
                <a:t> = -1,0</a:t>
              </a:r>
              <a:endParaRPr lang="pt-BR" sz="1400" dirty="0"/>
            </a:p>
          </p:txBody>
        </p:sp>
        <p:sp>
          <p:nvSpPr>
            <p:cNvPr id="54" name="CaixaDeTexto 53"/>
            <p:cNvSpPr txBox="1"/>
            <p:nvPr/>
          </p:nvSpPr>
          <p:spPr>
            <a:xfrm>
              <a:off x="4786314" y="5572140"/>
              <a:ext cx="8050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</a:t>
              </a:r>
              <a:r>
                <a:rPr lang="en-US" sz="1400" b="1" dirty="0" err="1">
                  <a:solidFill>
                    <a:schemeClr val="accent5">
                      <a:lumMod val="75000"/>
                    </a:schemeClr>
                  </a:solidFill>
                </a:rPr>
                <a:t>iF</a:t>
              </a:r>
              <a:r>
                <a:rPr lang="en-US" sz="1400" b="1" dirty="0">
                  <a:solidFill>
                    <a:schemeClr val="accent5">
                      <a:lumMod val="75000"/>
                    </a:schemeClr>
                  </a:solidFill>
                </a:rPr>
                <a:t> = -0,5</a:t>
              </a:r>
              <a:endParaRPr lang="pt-BR" sz="14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62" name="CaixaDeTexto 61"/>
          <p:cNvSpPr txBox="1"/>
          <p:nvPr/>
        </p:nvSpPr>
        <p:spPr>
          <a:xfrm>
            <a:off x="8108139" y="3000372"/>
            <a:ext cx="10358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</a:t>
            </a:r>
            <a:r>
              <a:rPr 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-0,17</a:t>
            </a:r>
            <a:endParaRPr lang="pt-BR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4" name="Conector de seta reta 63"/>
          <p:cNvCxnSpPr>
            <a:stCxn id="10" idx="6"/>
            <a:endCxn id="62" idx="1"/>
          </p:cNvCxnSpPr>
          <p:nvPr/>
        </p:nvCxnSpPr>
        <p:spPr>
          <a:xfrm>
            <a:off x="7826498" y="3066203"/>
            <a:ext cx="281641" cy="1034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7795875" y="3429000"/>
            <a:ext cx="134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err="1">
                <a:solidFill>
                  <a:srgbClr val="C00000"/>
                </a:solidFill>
              </a:rPr>
              <a:t>ErroG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C00000"/>
                </a:solidFill>
              </a:rPr>
              <a:t>= 0,58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60" name="CaixaDeTexto 59"/>
          <p:cNvSpPr txBox="1"/>
          <p:nvPr/>
        </p:nvSpPr>
        <p:spPr>
          <a:xfrm>
            <a:off x="3857620" y="835207"/>
            <a:ext cx="1211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 = 0,348</a:t>
            </a:r>
            <a:endParaRPr lang="pt-BR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3929090" y="2379479"/>
            <a:ext cx="1190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3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= 0,464</a:t>
            </a:r>
            <a:endParaRPr lang="pt-BR" sz="1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3929090" y="4093991"/>
            <a:ext cx="1205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1,247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3929090" y="5879941"/>
            <a:ext cx="1198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= 0,928</a:t>
            </a:r>
            <a:endParaRPr lang="pt-BR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5500694" y="4500570"/>
            <a:ext cx="3714744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atualizada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algn="ctr"/>
            <a:endParaRPr lang="en-US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dirty="0">
                <a:solidFill>
                  <a:srgbClr val="C00000"/>
                </a:solidFill>
              </a:rPr>
              <a:t>Agora </a:t>
            </a:r>
            <a:r>
              <a:rPr lang="en-US" dirty="0" err="1">
                <a:solidFill>
                  <a:srgbClr val="C00000"/>
                </a:solidFill>
              </a:rPr>
              <a:t>deve</a:t>
            </a:r>
            <a:r>
              <a:rPr lang="en-US" dirty="0">
                <a:solidFill>
                  <a:srgbClr val="C00000"/>
                </a:solidFill>
              </a:rPr>
              <a:t> ser </a:t>
            </a:r>
            <a:r>
              <a:rPr lang="en-US" dirty="0" err="1">
                <a:solidFill>
                  <a:srgbClr val="C00000"/>
                </a:solidFill>
              </a:rPr>
              <a:t>apresentado</a:t>
            </a:r>
            <a:r>
              <a:rPr lang="en-US" dirty="0">
                <a:solidFill>
                  <a:srgbClr val="C00000"/>
                </a:solidFill>
              </a:rPr>
              <a:t> um novo </a:t>
            </a:r>
            <a:r>
              <a:rPr lang="en-US" b="1" dirty="0" err="1">
                <a:solidFill>
                  <a:srgbClr val="C00000"/>
                </a:solidFill>
              </a:rPr>
              <a:t>Exemplo</a:t>
            </a:r>
            <a:r>
              <a:rPr lang="en-US" dirty="0">
                <a:solidFill>
                  <a:srgbClr val="C00000"/>
                </a:solidFill>
              </a:rPr>
              <a:t> à </a:t>
            </a:r>
            <a:r>
              <a:rPr lang="en-US" dirty="0" err="1">
                <a:solidFill>
                  <a:srgbClr val="C00000"/>
                </a:solidFill>
              </a:rPr>
              <a:t>rede</a:t>
            </a:r>
            <a:r>
              <a:rPr lang="en-US" dirty="0">
                <a:solidFill>
                  <a:srgbClr val="C00000"/>
                </a:solidFill>
              </a:rPr>
              <a:t> e </a:t>
            </a:r>
            <a:r>
              <a:rPr lang="en-US" dirty="0" err="1">
                <a:solidFill>
                  <a:srgbClr val="C00000"/>
                </a:solidFill>
              </a:rPr>
              <a:t>realizar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todo</a:t>
            </a:r>
            <a:r>
              <a:rPr lang="en-US" dirty="0">
                <a:solidFill>
                  <a:srgbClr val="C00000"/>
                </a:solidFill>
              </a:rPr>
              <a:t> o </a:t>
            </a:r>
            <a:r>
              <a:rPr lang="en-US" dirty="0" err="1">
                <a:solidFill>
                  <a:srgbClr val="C00000"/>
                </a:solidFill>
              </a:rPr>
              <a:t>processo</a:t>
            </a:r>
            <a:r>
              <a:rPr lang="en-US" dirty="0">
                <a:solidFill>
                  <a:srgbClr val="C00000"/>
                </a:solidFill>
              </a:rPr>
              <a:t> de </a:t>
            </a:r>
            <a:r>
              <a:rPr lang="en-US" dirty="0" err="1">
                <a:solidFill>
                  <a:srgbClr val="C00000"/>
                </a:solidFill>
              </a:rPr>
              <a:t>treinamento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novamente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até</a:t>
            </a:r>
            <a:r>
              <a:rPr lang="en-US" dirty="0">
                <a:solidFill>
                  <a:srgbClr val="C00000"/>
                </a:solidFill>
              </a:rPr>
              <a:t> a </a:t>
            </a:r>
            <a:r>
              <a:rPr lang="en-US" dirty="0" err="1">
                <a:solidFill>
                  <a:srgbClr val="C00000"/>
                </a:solidFill>
              </a:rPr>
              <a:t>rede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convergir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ou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seja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atingir</a:t>
            </a:r>
            <a:r>
              <a:rPr lang="en-US" dirty="0">
                <a:solidFill>
                  <a:srgbClr val="C00000"/>
                </a:solidFill>
              </a:rPr>
              <a:t> o </a:t>
            </a:r>
            <a:r>
              <a:rPr lang="en-US" dirty="0" err="1">
                <a:solidFill>
                  <a:srgbClr val="C00000"/>
                </a:solidFill>
              </a:rPr>
              <a:t>limiar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definido</a:t>
            </a:r>
            <a:r>
              <a:rPr lang="en-US" dirty="0">
                <a:solidFill>
                  <a:srgbClr val="C00000"/>
                </a:solidFill>
              </a:rPr>
              <a:t> com base no </a:t>
            </a:r>
            <a:r>
              <a:rPr lang="en-US" b="1" dirty="0" err="1">
                <a:solidFill>
                  <a:srgbClr val="C00000"/>
                </a:solidFill>
              </a:rPr>
              <a:t>Erro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da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Rede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7707782" y="2575315"/>
            <a:ext cx="10861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netG</a:t>
            </a:r>
            <a:r>
              <a:rPr lang="en-US" sz="1400" dirty="0"/>
              <a:t> = -0,35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9369298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12670" y="2310823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237551" y="2486057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516307" y="4218232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290552" y="4975204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69819" y="3068960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358551" y="2110768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</p:spTree>
    <p:extLst>
      <p:ext uri="{BB962C8B-B14F-4D97-AF65-F5344CB8AC3E}">
        <p14:creationId xmlns:p14="http://schemas.microsoft.com/office/powerpoint/2010/main" val="2918387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516307" y="4232983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123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1158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338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227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123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285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251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317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7174501" y="6021288"/>
            <a:ext cx="185317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ErroRede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</a:p>
          <a:p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393802" y="6067454"/>
            <a:ext cx="4401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1º Calcular NET e Saída da Camada Oculta e </a:t>
            </a:r>
          </a:p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Saída</a:t>
            </a:r>
          </a:p>
        </p:txBody>
      </p:sp>
    </p:spTree>
    <p:extLst>
      <p:ext uri="{BB962C8B-B14F-4D97-AF65-F5344CB8AC3E}">
        <p14:creationId xmlns:p14="http://schemas.microsoft.com/office/powerpoint/2010/main" val="2282224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/>
          <p:cNvSpPr/>
          <p:nvPr/>
        </p:nvSpPr>
        <p:spPr>
          <a:xfrm>
            <a:off x="3923928" y="2103025"/>
            <a:ext cx="1872208" cy="39182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99628" y="4132654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338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227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123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285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251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317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7174501" y="6021288"/>
            <a:ext cx="185317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ErroRede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</a:p>
          <a:p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2714007" y="6390620"/>
            <a:ext cx="418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1º Calcular NET e Saída da Camada Oculta</a:t>
            </a:r>
          </a:p>
        </p:txBody>
      </p:sp>
    </p:spTree>
    <p:extLst>
      <p:ext uri="{BB962C8B-B14F-4D97-AF65-F5344CB8AC3E}">
        <p14:creationId xmlns:p14="http://schemas.microsoft.com/office/powerpoint/2010/main" val="1098094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/>
          <p:cNvSpPr/>
          <p:nvPr/>
        </p:nvSpPr>
        <p:spPr>
          <a:xfrm>
            <a:off x="7279620" y="1733693"/>
            <a:ext cx="1872208" cy="40422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56360" y="4138129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338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227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999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4,60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2,30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285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031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2,22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1,11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317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7174501" y="6021288"/>
            <a:ext cx="185317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ErroRede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</a:p>
          <a:p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2634578" y="6390620"/>
            <a:ext cx="407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1º Calcular NET e Saída da Camada Saída</a:t>
            </a:r>
          </a:p>
        </p:txBody>
      </p:sp>
    </p:spTree>
    <p:extLst>
      <p:ext uri="{BB962C8B-B14F-4D97-AF65-F5344CB8AC3E}">
        <p14:creationId xmlns:p14="http://schemas.microsoft.com/office/powerpoint/2010/main" val="28463703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/>
          <p:cNvSpPr/>
          <p:nvPr/>
        </p:nvSpPr>
        <p:spPr>
          <a:xfrm>
            <a:off x="7279620" y="1733693"/>
            <a:ext cx="1872208" cy="40422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56360" y="4138129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338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227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999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4,60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2,30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121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-0,65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031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2,22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1,11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245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-0,055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7174501" y="6021288"/>
            <a:ext cx="185317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ErroRede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</a:p>
          <a:p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2634578" y="6205954"/>
            <a:ext cx="3960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2º Calcular Erro dos Neurônios de Saída</a:t>
            </a:r>
          </a:p>
          <a:p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 = (Desejado-Saída). f’(net)</a:t>
            </a:r>
          </a:p>
        </p:txBody>
      </p:sp>
    </p:spTree>
    <p:extLst>
      <p:ext uri="{BB962C8B-B14F-4D97-AF65-F5344CB8AC3E}">
        <p14:creationId xmlns:p14="http://schemas.microsoft.com/office/powerpoint/2010/main" val="1628461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/>
          <p:cNvSpPr/>
          <p:nvPr/>
        </p:nvSpPr>
        <p:spPr>
          <a:xfrm>
            <a:off x="3787634" y="1949791"/>
            <a:ext cx="1872208" cy="40422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56360" y="4138129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174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-0,71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193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-1,08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999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4,60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2,30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121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-0,65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031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2,22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1,11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245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-0,055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7174501" y="6021288"/>
            <a:ext cx="1853177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ErroRede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</a:p>
          <a:p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2099720" y="6216848"/>
            <a:ext cx="4892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3º Calcular Erro dos Neurônios da Camada Oculta</a:t>
            </a:r>
          </a:p>
          <a:p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 = ∑(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ErroNeurônioSaída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. peso). f’(net)</a:t>
            </a:r>
          </a:p>
        </p:txBody>
      </p:sp>
    </p:spTree>
    <p:extLst>
      <p:ext uri="{BB962C8B-B14F-4D97-AF65-F5344CB8AC3E}">
        <p14:creationId xmlns:p14="http://schemas.microsoft.com/office/powerpoint/2010/main" val="2934613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56360" y="4138129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88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g,f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174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-0,71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153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-1,08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999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4,60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2,30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121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-0,65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031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2,22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1,11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245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-0,055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2099720" y="6216848"/>
            <a:ext cx="3276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4º Calcular Erro da Rede</a:t>
            </a:r>
          </a:p>
          <a:p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 = ½ * ∑(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ErroNeurônioSaída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)²</a:t>
            </a:r>
          </a:p>
        </p:txBody>
      </p:sp>
    </p:spTree>
    <p:extLst>
      <p:ext uri="{BB962C8B-B14F-4D97-AF65-F5344CB8AC3E}">
        <p14:creationId xmlns:p14="http://schemas.microsoft.com/office/powerpoint/2010/main" val="10463986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67587" y="2380254"/>
            <a:ext cx="10649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346235" y="330412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3,6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169481" y="2502608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2,1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F=1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97960" y="4571537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1,4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1055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-2,1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356360" y="4138129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357161" y="4990847"/>
            <a:ext cx="10191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1,6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72390" y="3080068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430885" y="1733693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net/2</a:t>
            </a:r>
          </a:p>
          <a:p>
            <a:r>
              <a:rPr lang="en-US" sz="2000" i="1" baseline="-25000" dirty="0"/>
              <a:t>f´(net) = ½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N=0,5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57532" y="2297046"/>
            <a:ext cx="977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-1,1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71912" y="2533385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7531" y="4410114"/>
            <a:ext cx="937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3,6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71910" y="5050705"/>
            <a:ext cx="782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6530" y="3239906"/>
            <a:ext cx="1174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-0,71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7532" y="5412686"/>
            <a:ext cx="1153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-1,08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9825" y="2261701"/>
            <a:ext cx="999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4,60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92573" y="2665622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2,30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92531" y="3135282"/>
            <a:ext cx="1121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-0,65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7475438" y="4301931"/>
            <a:ext cx="1031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2,22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92573" y="470126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1,11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8144" y="5175512"/>
            <a:ext cx="1245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-0,055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78957" y="2430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9880" y="53819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1802361" y="6216848"/>
            <a:ext cx="5414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5º Atualizar peso da camada de saída</a:t>
            </a:r>
          </a:p>
          <a:p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Novo peso = peso +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n.ErroNeurônio.saídaCamadaOculta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647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sp>
        <p:nvSpPr>
          <p:cNvPr id="4" name="Elipse 3"/>
          <p:cNvSpPr/>
          <p:nvPr/>
        </p:nvSpPr>
        <p:spPr>
          <a:xfrm>
            <a:off x="557070" y="2294839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557070" y="5295235"/>
            <a:ext cx="571504" cy="50006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pt-BR" dirty="0"/>
          </a:p>
        </p:txBody>
      </p:sp>
      <p:sp>
        <p:nvSpPr>
          <p:cNvPr id="6" name="Elipse 5"/>
          <p:cNvSpPr/>
          <p:nvPr/>
        </p:nvSpPr>
        <p:spPr>
          <a:xfrm>
            <a:off x="4232659" y="2642711"/>
            <a:ext cx="571504" cy="50006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pt-BR" dirty="0"/>
          </a:p>
        </p:txBody>
      </p:sp>
      <p:sp>
        <p:nvSpPr>
          <p:cNvPr id="7" name="Elipse 6"/>
          <p:cNvSpPr/>
          <p:nvPr/>
        </p:nvSpPr>
        <p:spPr>
          <a:xfrm>
            <a:off x="4200408" y="4740814"/>
            <a:ext cx="571504" cy="500066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521069" y="2569478"/>
            <a:ext cx="571504" cy="500066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7521069" y="4667581"/>
            <a:ext cx="571504" cy="50006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endParaRPr lang="pt-BR" dirty="0"/>
          </a:p>
        </p:txBody>
      </p:sp>
      <p:cxnSp>
        <p:nvCxnSpPr>
          <p:cNvPr id="11" name="Conector de seta reta 10"/>
          <p:cNvCxnSpPr>
            <a:stCxn id="4" idx="6"/>
            <a:endCxn id="6" idx="2"/>
          </p:cNvCxnSpPr>
          <p:nvPr/>
        </p:nvCxnSpPr>
        <p:spPr>
          <a:xfrm>
            <a:off x="1128574" y="2544872"/>
            <a:ext cx="3104085" cy="347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stCxn id="4" idx="6"/>
            <a:endCxn id="7" idx="2"/>
          </p:cNvCxnSpPr>
          <p:nvPr/>
        </p:nvCxnSpPr>
        <p:spPr>
          <a:xfrm>
            <a:off x="1128574" y="2544872"/>
            <a:ext cx="3071834" cy="24459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>
            <a:stCxn id="5" idx="6"/>
            <a:endCxn id="6" idx="3"/>
          </p:cNvCxnSpPr>
          <p:nvPr/>
        </p:nvCxnSpPr>
        <p:spPr>
          <a:xfrm flipV="1">
            <a:off x="1128574" y="3069544"/>
            <a:ext cx="3187780" cy="24757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5" idx="6"/>
            <a:endCxn id="7" idx="3"/>
          </p:cNvCxnSpPr>
          <p:nvPr/>
        </p:nvCxnSpPr>
        <p:spPr>
          <a:xfrm flipV="1">
            <a:off x="1128574" y="5167647"/>
            <a:ext cx="3155529" cy="377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6" idx="6"/>
            <a:endCxn id="9" idx="2"/>
          </p:cNvCxnSpPr>
          <p:nvPr/>
        </p:nvCxnSpPr>
        <p:spPr>
          <a:xfrm flipV="1">
            <a:off x="4804163" y="2819511"/>
            <a:ext cx="2716906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7" idx="6"/>
            <a:endCxn id="10" idx="2"/>
          </p:cNvCxnSpPr>
          <p:nvPr/>
        </p:nvCxnSpPr>
        <p:spPr>
          <a:xfrm flipV="1">
            <a:off x="4771912" y="4917614"/>
            <a:ext cx="2749157" cy="732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1712670" y="2310823"/>
            <a:ext cx="1002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c,a</a:t>
            </a:r>
            <a:r>
              <a:rPr lang="en-US" sz="1600" baseline="-25000" dirty="0"/>
              <a:t> </a:t>
            </a:r>
            <a:r>
              <a:rPr lang="en-US" sz="1600" dirty="0"/>
              <a:t> = 1,2</a:t>
            </a:r>
            <a:endParaRPr lang="pt-BR" baseline="-25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1128574" y="3238237"/>
            <a:ext cx="1017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d,a</a:t>
            </a:r>
            <a:r>
              <a:rPr lang="en-US" sz="1600" baseline="-25000" dirty="0"/>
              <a:t> </a:t>
            </a:r>
            <a:r>
              <a:rPr lang="en-US" sz="1600" dirty="0"/>
              <a:t> = 3,5</a:t>
            </a:r>
            <a:endParaRPr lang="pt-BR" baseline="-25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6237551" y="2486057"/>
            <a:ext cx="9777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f,c</a:t>
            </a:r>
            <a:r>
              <a:rPr lang="en-US" sz="1600" baseline="-25000" dirty="0"/>
              <a:t> </a:t>
            </a:r>
            <a:r>
              <a:rPr lang="en-US" sz="1600" dirty="0"/>
              <a:t> = 2,0</a:t>
            </a:r>
            <a:endParaRPr lang="pt-BR" baseline="-25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202118" y="297672"/>
            <a:ext cx="2191684" cy="9130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Entradas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A=1 e B=0</a:t>
            </a:r>
          </a:p>
          <a:p>
            <a:r>
              <a:rPr lang="en-US" sz="2000" i="1" baseline="-25000" dirty="0" err="1"/>
              <a:t>Saídas</a:t>
            </a:r>
            <a:r>
              <a:rPr lang="en-US" sz="2000" i="1" baseline="-25000" dirty="0"/>
              <a:t> </a:t>
            </a:r>
            <a:r>
              <a:rPr lang="en-US" sz="2000" i="1" baseline="-25000" dirty="0" err="1"/>
              <a:t>Desejadas</a:t>
            </a:r>
            <a:r>
              <a:rPr lang="en-US" sz="2000" i="1" baseline="-25000" dirty="0"/>
              <a:t>: F=0 e G=1</a:t>
            </a:r>
          </a:p>
          <a:p>
            <a:endParaRPr lang="en-US" sz="1600" baseline="-25000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1208269" y="4498304"/>
            <a:ext cx="100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c,b</a:t>
            </a:r>
            <a:r>
              <a:rPr lang="en-US" sz="1600" baseline="-25000" dirty="0"/>
              <a:t> </a:t>
            </a:r>
            <a:r>
              <a:rPr lang="en-US" sz="1600" dirty="0"/>
              <a:t> = 1,0</a:t>
            </a:r>
            <a:endParaRPr lang="pt-BR" baseline="-25000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1835696" y="5545268"/>
            <a:ext cx="9933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d,b</a:t>
            </a:r>
            <a:r>
              <a:rPr lang="en-US" sz="1600" dirty="0"/>
              <a:t> = 3,0</a:t>
            </a:r>
            <a:endParaRPr lang="pt-BR" baseline="-250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6516307" y="4218232"/>
            <a:ext cx="1004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g,c</a:t>
            </a:r>
            <a:r>
              <a:rPr lang="en-US" sz="1600" baseline="-25000" dirty="0"/>
              <a:t> </a:t>
            </a:r>
            <a:r>
              <a:rPr lang="en-US" sz="1600" dirty="0"/>
              <a:t> = 1,5</a:t>
            </a:r>
            <a:endParaRPr lang="pt-BR" baseline="-25000" dirty="0"/>
          </a:p>
        </p:txBody>
      </p:sp>
      <p:sp>
        <p:nvSpPr>
          <p:cNvPr id="32" name="CaixaDeTexto 31"/>
          <p:cNvSpPr txBox="1"/>
          <p:nvPr/>
        </p:nvSpPr>
        <p:spPr>
          <a:xfrm>
            <a:off x="6290552" y="4975204"/>
            <a:ext cx="10817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g,d</a:t>
            </a:r>
            <a:r>
              <a:rPr lang="en-US" sz="1600" baseline="-25000" dirty="0"/>
              <a:t> </a:t>
            </a:r>
            <a:r>
              <a:rPr lang="en-US" sz="1600" dirty="0"/>
              <a:t> = -1,1</a:t>
            </a:r>
            <a:endParaRPr lang="pt-BR" baseline="-25000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6369819" y="3068960"/>
            <a:ext cx="9921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W</a:t>
            </a:r>
            <a:r>
              <a:rPr lang="en-US" sz="1600" baseline="-25000" dirty="0" err="1"/>
              <a:t>f,d</a:t>
            </a:r>
            <a:r>
              <a:rPr lang="en-US" sz="1600" baseline="-25000" dirty="0"/>
              <a:t> </a:t>
            </a:r>
            <a:r>
              <a:rPr lang="en-US" sz="1600" dirty="0"/>
              <a:t> = 3,2</a:t>
            </a:r>
            <a:endParaRPr lang="pt-BR" baseline="-250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199880" y="1580459"/>
            <a:ext cx="11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ENTRADAS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7358551" y="1925507"/>
            <a:ext cx="751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SAÍDA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5" name="Conector de seta reta 64"/>
          <p:cNvCxnSpPr>
            <a:stCxn id="6" idx="6"/>
            <a:endCxn id="10" idx="1"/>
          </p:cNvCxnSpPr>
          <p:nvPr/>
        </p:nvCxnSpPr>
        <p:spPr>
          <a:xfrm>
            <a:off x="4804163" y="2892744"/>
            <a:ext cx="2800601" cy="18480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Conector de seta reta 72"/>
          <p:cNvCxnSpPr>
            <a:stCxn id="7" idx="6"/>
            <a:endCxn id="9" idx="3"/>
          </p:cNvCxnSpPr>
          <p:nvPr/>
        </p:nvCxnSpPr>
        <p:spPr>
          <a:xfrm flipV="1">
            <a:off x="4771912" y="2996311"/>
            <a:ext cx="2832852" cy="1994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CaixaDeTexto 85"/>
          <p:cNvSpPr txBox="1"/>
          <p:nvPr/>
        </p:nvSpPr>
        <p:spPr>
          <a:xfrm>
            <a:off x="6579103" y="297672"/>
            <a:ext cx="2191684" cy="136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Função</a:t>
            </a:r>
            <a:r>
              <a:rPr lang="en-US" sz="1600" b="1" dirty="0"/>
              <a:t> de </a:t>
            </a:r>
            <a:r>
              <a:rPr lang="en-US" sz="1600" b="1" dirty="0" err="1"/>
              <a:t>Saída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f(net) = net²/5</a:t>
            </a:r>
          </a:p>
          <a:p>
            <a:r>
              <a:rPr lang="en-US" sz="2000" i="1" baseline="-25000" dirty="0"/>
              <a:t>f´(net) = 2net/5 </a:t>
            </a:r>
          </a:p>
          <a:p>
            <a:endParaRPr lang="en-US" sz="1600" baseline="-25000" dirty="0"/>
          </a:p>
          <a:p>
            <a:r>
              <a:rPr lang="en-US" sz="1600" b="1" dirty="0"/>
              <a:t>Taxa de </a:t>
            </a:r>
            <a:r>
              <a:rPr lang="en-US" sz="1600" b="1" dirty="0" err="1"/>
              <a:t>Aprendizagem</a:t>
            </a:r>
            <a:r>
              <a:rPr lang="en-US" sz="1600" b="1" dirty="0"/>
              <a:t>:</a:t>
            </a:r>
          </a:p>
          <a:p>
            <a:r>
              <a:rPr lang="en-US" sz="2000" i="1" baseline="-25000" dirty="0"/>
              <a:t>N=1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211960" y="2297046"/>
            <a:ext cx="123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netC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4767885" y="2533385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4053504" y="4410114"/>
            <a:ext cx="1158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netD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4767883" y="5050705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142503" y="3239906"/>
            <a:ext cx="1338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ErroC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4053505" y="5412686"/>
            <a:ext cx="1227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ErroD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7505798" y="2261701"/>
            <a:ext cx="1233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netF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8088546" y="2665622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7488504" y="3135282"/>
            <a:ext cx="1285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ErroF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7471411" y="4301931"/>
            <a:ext cx="12513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chemeClr val="accent4">
                    <a:lumMod val="75000"/>
                  </a:schemeClr>
                </a:solidFill>
              </a:rPr>
              <a:t>netG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088546" y="4701263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iG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7454117" y="5175512"/>
            <a:ext cx="1317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</a:rPr>
              <a:t>ErroG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= ______</a:t>
            </a:r>
            <a:endParaRPr lang="pt-BR" sz="14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3764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7934</Words>
  <Application>Microsoft Office PowerPoint</Application>
  <PresentationFormat>Apresentação na tela (4:3)</PresentationFormat>
  <Paragraphs>1873</Paragraphs>
  <Slides>44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8" baseType="lpstr">
      <vt:lpstr>Arial</vt:lpstr>
      <vt:lpstr>Calibri</vt:lpstr>
      <vt:lpstr>Tema do Office</vt:lpstr>
      <vt:lpstr>Equation</vt:lpstr>
      <vt:lpstr>Redes MLP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</vt:lpstr>
      <vt:lpstr>Exercício</vt:lpstr>
      <vt:lpstr>Exercício</vt:lpstr>
      <vt:lpstr>Exercício</vt:lpstr>
      <vt:lpstr>Exercício</vt:lpstr>
      <vt:lpstr>Exercício</vt:lpstr>
      <vt:lpstr>Exercício</vt:lpstr>
      <vt:lpstr>Exercício</vt:lpstr>
      <vt:lpstr>Exercício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mario</dc:creator>
  <cp:lastModifiedBy>Mário Augusto Pazoti</cp:lastModifiedBy>
  <cp:revision>104</cp:revision>
  <dcterms:created xsi:type="dcterms:W3CDTF">2011-11-05T21:54:36Z</dcterms:created>
  <dcterms:modified xsi:type="dcterms:W3CDTF">2020-04-28T12:35:57Z</dcterms:modified>
</cp:coreProperties>
</file>